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5"/>
  </p:notesMasterIdLst>
  <p:sldIdLst>
    <p:sldId id="256" r:id="rId2"/>
    <p:sldId id="263" r:id="rId3"/>
    <p:sldId id="257" r:id="rId4"/>
    <p:sldId id="258" r:id="rId5"/>
    <p:sldId id="259" r:id="rId6"/>
    <p:sldId id="260" r:id="rId7"/>
    <p:sldId id="261" r:id="rId8"/>
    <p:sldId id="264" r:id="rId9"/>
    <p:sldId id="265" r:id="rId10"/>
    <p:sldId id="266" r:id="rId11"/>
    <p:sldId id="267" r:id="rId12"/>
    <p:sldId id="268" r:id="rId13"/>
    <p:sldId id="26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45" d="100"/>
          <a:sy n="45" d="100"/>
        </p:scale>
        <p:origin x="1025" y="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8E2E1-8886-43B2-B986-F2B06DAA2FAC}" type="datetimeFigureOut">
              <a:rPr lang="en-IN" smtClean="0"/>
              <a:t>22-08-2026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9FDF3-42B5-4A41-B75E-186C389084C2}" type="slidenum">
              <a:rPr lang="en-IN" smtClean="0"/>
              <a:t>‹#›</a:t>
            </a:fld>
            <a:endParaRPr lang="en-IN"/>
          </a:p>
        </p:txBody>
      </p:sp>
    </p:spTree>
    <p:extLst>
      <p:ext uri="{BB962C8B-B14F-4D97-AF65-F5344CB8AC3E}">
        <p14:creationId xmlns:p14="http://schemas.microsoft.com/office/powerpoint/2010/main" val="1029858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92BF-19BE-9BF0-E2FC-07A36D054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3AB4F9-CBB3-B18D-E917-C3B0641867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0F18A0-E201-1900-A139-E830DD3EA1D1}"/>
              </a:ext>
            </a:extLst>
          </p:cNvPr>
          <p:cNvSpPr>
            <a:spLocks noGrp="1"/>
          </p:cNvSpPr>
          <p:nvPr>
            <p:ph type="dt" sz="half" idx="10"/>
          </p:nvPr>
        </p:nvSpPr>
        <p:spPr/>
        <p:txBody>
          <a:bodyPr/>
          <a:lstStyle/>
          <a:p>
            <a:fld id="{8F3E78AE-7F97-4550-9DD8-BF69171FDC30}" type="datetime1">
              <a:rPr lang="en-IN" smtClean="0"/>
              <a:t>22-08-2026</a:t>
            </a:fld>
            <a:endParaRPr lang="en-IN"/>
          </a:p>
        </p:txBody>
      </p:sp>
      <p:sp>
        <p:nvSpPr>
          <p:cNvPr id="5" name="Footer Placeholder 4">
            <a:extLst>
              <a:ext uri="{FF2B5EF4-FFF2-40B4-BE49-F238E27FC236}">
                <a16:creationId xmlns:a16="http://schemas.microsoft.com/office/drawing/2014/main" id="{ED0906B9-B1F6-B52E-2EE0-7595B1EBF0FF}"/>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7A13AE1-F96E-D540-8DE1-8D903DB30CE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765197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F7EA-3EC9-99AF-13A9-22A3F8B2D2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71419B-73DB-15DA-D2EE-0FC01B435F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080259-8D20-E29B-4DC5-312C3DB01BB3}"/>
              </a:ext>
            </a:extLst>
          </p:cNvPr>
          <p:cNvSpPr>
            <a:spLocks noGrp="1"/>
          </p:cNvSpPr>
          <p:nvPr>
            <p:ph type="dt" sz="half" idx="10"/>
          </p:nvPr>
        </p:nvSpPr>
        <p:spPr/>
        <p:txBody>
          <a:bodyPr/>
          <a:lstStyle/>
          <a:p>
            <a:fld id="{FEA886FF-1BA7-4533-94E6-869CE1E2970B}" type="datetime1">
              <a:rPr lang="en-IN" smtClean="0"/>
              <a:t>22-08-2026</a:t>
            </a:fld>
            <a:endParaRPr lang="en-IN"/>
          </a:p>
        </p:txBody>
      </p:sp>
      <p:sp>
        <p:nvSpPr>
          <p:cNvPr id="5" name="Footer Placeholder 4">
            <a:extLst>
              <a:ext uri="{FF2B5EF4-FFF2-40B4-BE49-F238E27FC236}">
                <a16:creationId xmlns:a16="http://schemas.microsoft.com/office/drawing/2014/main" id="{E101830E-3502-194A-88FA-DC3E0F1B309A}"/>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CF6703C-229C-43C6-0484-38EC263AD4A9}"/>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693990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E344-6494-09A6-A5E4-811EEE0CD2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51A0E2-2B9B-B96E-A3FD-0B26BDDBEB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67CE67-8E8A-4D0D-42DF-DDC842B1B17A}"/>
              </a:ext>
            </a:extLst>
          </p:cNvPr>
          <p:cNvSpPr>
            <a:spLocks noGrp="1"/>
          </p:cNvSpPr>
          <p:nvPr>
            <p:ph type="dt" sz="half" idx="10"/>
          </p:nvPr>
        </p:nvSpPr>
        <p:spPr/>
        <p:txBody>
          <a:bodyPr/>
          <a:lstStyle/>
          <a:p>
            <a:fld id="{93E22BD8-A2C4-424B-809A-C64DDCC305D9}" type="datetime1">
              <a:rPr lang="en-IN" smtClean="0"/>
              <a:t>22-08-2026</a:t>
            </a:fld>
            <a:endParaRPr lang="en-IN"/>
          </a:p>
        </p:txBody>
      </p:sp>
      <p:sp>
        <p:nvSpPr>
          <p:cNvPr id="5" name="Footer Placeholder 4">
            <a:extLst>
              <a:ext uri="{FF2B5EF4-FFF2-40B4-BE49-F238E27FC236}">
                <a16:creationId xmlns:a16="http://schemas.microsoft.com/office/drawing/2014/main" id="{73A78C3E-C139-1FD1-979B-D71679959D2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932F297-889B-B694-6DD5-92F8A6AAFF7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95814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2C89C-FEA2-11F6-7988-ADD14A7B22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E5DE7B-A406-1142-36EA-1C14987402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355A2B-361E-86CB-ABBE-C510D2B221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DA5E84-A1E0-A1C4-F7E6-DA9E7B124C77}"/>
              </a:ext>
            </a:extLst>
          </p:cNvPr>
          <p:cNvSpPr>
            <a:spLocks noGrp="1"/>
          </p:cNvSpPr>
          <p:nvPr>
            <p:ph type="dt" sz="half" idx="10"/>
          </p:nvPr>
        </p:nvSpPr>
        <p:spPr/>
        <p:txBody>
          <a:bodyPr/>
          <a:lstStyle/>
          <a:p>
            <a:fld id="{B620F4BC-B3A4-46AF-9AEC-8478EF1369D5}" type="datetime1">
              <a:rPr lang="en-IN" smtClean="0"/>
              <a:t>22-08-2026</a:t>
            </a:fld>
            <a:endParaRPr lang="en-IN"/>
          </a:p>
        </p:txBody>
      </p:sp>
      <p:sp>
        <p:nvSpPr>
          <p:cNvPr id="6" name="Footer Placeholder 5">
            <a:extLst>
              <a:ext uri="{FF2B5EF4-FFF2-40B4-BE49-F238E27FC236}">
                <a16:creationId xmlns:a16="http://schemas.microsoft.com/office/drawing/2014/main" id="{D5DDA460-54C8-F2AC-C053-53FF3FAFCCD5}"/>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E6F132A-BD40-58D2-CEEC-A1BA2B9E2EF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438223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823BE-2514-8722-ED45-41E13E46B6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BFEE3B-6ABA-1D24-97FE-717EBBC99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653C42-4C6D-988F-42A0-8639A508A6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B662B4-F942-A78F-394F-74F6037179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445FBE-A81E-92E1-36E3-99D1586F83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D20C02-77C2-CB2A-62F8-60B8C62629ED}"/>
              </a:ext>
            </a:extLst>
          </p:cNvPr>
          <p:cNvSpPr>
            <a:spLocks noGrp="1"/>
          </p:cNvSpPr>
          <p:nvPr>
            <p:ph type="dt" sz="half" idx="10"/>
          </p:nvPr>
        </p:nvSpPr>
        <p:spPr/>
        <p:txBody>
          <a:bodyPr/>
          <a:lstStyle/>
          <a:p>
            <a:fld id="{4C9A2993-B405-4F4D-B968-A01C27211659}" type="datetime1">
              <a:rPr lang="en-IN" smtClean="0"/>
              <a:t>22-08-2026</a:t>
            </a:fld>
            <a:endParaRPr lang="en-IN"/>
          </a:p>
        </p:txBody>
      </p:sp>
      <p:sp>
        <p:nvSpPr>
          <p:cNvPr id="8" name="Footer Placeholder 7">
            <a:extLst>
              <a:ext uri="{FF2B5EF4-FFF2-40B4-BE49-F238E27FC236}">
                <a16:creationId xmlns:a16="http://schemas.microsoft.com/office/drawing/2014/main" id="{AD033241-EB08-777E-F678-5D641F6495A5}"/>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40D711ED-181F-C690-A3B3-1D82670FC5D5}"/>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9272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468B4-E355-69B3-7598-80ADF2F9CC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F1AB3B-AFC6-3627-62E6-22313061FA80}"/>
              </a:ext>
            </a:extLst>
          </p:cNvPr>
          <p:cNvSpPr>
            <a:spLocks noGrp="1"/>
          </p:cNvSpPr>
          <p:nvPr>
            <p:ph type="dt" sz="half" idx="10"/>
          </p:nvPr>
        </p:nvSpPr>
        <p:spPr/>
        <p:txBody>
          <a:bodyPr/>
          <a:lstStyle/>
          <a:p>
            <a:fld id="{79378C8C-5FBB-4DD7-A06D-BE263480794B}" type="datetime1">
              <a:rPr lang="en-IN" smtClean="0"/>
              <a:t>22-08-2026</a:t>
            </a:fld>
            <a:endParaRPr lang="en-IN"/>
          </a:p>
        </p:txBody>
      </p:sp>
      <p:sp>
        <p:nvSpPr>
          <p:cNvPr id="4" name="Footer Placeholder 3">
            <a:extLst>
              <a:ext uri="{FF2B5EF4-FFF2-40B4-BE49-F238E27FC236}">
                <a16:creationId xmlns:a16="http://schemas.microsoft.com/office/drawing/2014/main" id="{2B2C6591-48E4-480E-7965-DE9F830154A3}"/>
              </a:ext>
            </a:extLst>
          </p:cNvPr>
          <p:cNvSpPr>
            <a:spLocks noGrp="1"/>
          </p:cNvSpPr>
          <p:nvPr>
            <p:ph type="ftr" sz="quarter" idx="11"/>
          </p:nvPr>
        </p:nvSpPr>
        <p:spPr/>
        <p:txBody>
          <a:bodyPr/>
          <a:lstStyle/>
          <a:p>
            <a:r>
              <a:rPr lang="en-IN"/>
              <a:t>SCOPE</a:t>
            </a:r>
          </a:p>
        </p:txBody>
      </p:sp>
      <p:sp>
        <p:nvSpPr>
          <p:cNvPr id="5" name="Slide Number Placeholder 4">
            <a:extLst>
              <a:ext uri="{FF2B5EF4-FFF2-40B4-BE49-F238E27FC236}">
                <a16:creationId xmlns:a16="http://schemas.microsoft.com/office/drawing/2014/main" id="{F10C9D68-A16A-B2D3-C8A6-B5221AF744BC}"/>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075061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3F289A-3AD7-C11D-1594-90A35E592B5C}"/>
              </a:ext>
            </a:extLst>
          </p:cNvPr>
          <p:cNvSpPr>
            <a:spLocks noGrp="1"/>
          </p:cNvSpPr>
          <p:nvPr>
            <p:ph type="dt" sz="half" idx="10"/>
          </p:nvPr>
        </p:nvSpPr>
        <p:spPr/>
        <p:txBody>
          <a:bodyPr/>
          <a:lstStyle/>
          <a:p>
            <a:fld id="{31FD2985-06EC-459B-80C8-F6F4362A1C03}" type="datetime1">
              <a:rPr lang="en-IN" smtClean="0"/>
              <a:t>22-08-2026</a:t>
            </a:fld>
            <a:endParaRPr lang="en-IN"/>
          </a:p>
        </p:txBody>
      </p:sp>
      <p:sp>
        <p:nvSpPr>
          <p:cNvPr id="3" name="Footer Placeholder 2">
            <a:extLst>
              <a:ext uri="{FF2B5EF4-FFF2-40B4-BE49-F238E27FC236}">
                <a16:creationId xmlns:a16="http://schemas.microsoft.com/office/drawing/2014/main" id="{8C252269-BBE3-199F-299B-38D4E9CC1899}"/>
              </a:ext>
            </a:extLst>
          </p:cNvPr>
          <p:cNvSpPr>
            <a:spLocks noGrp="1"/>
          </p:cNvSpPr>
          <p:nvPr>
            <p:ph type="ftr" sz="quarter" idx="11"/>
          </p:nvPr>
        </p:nvSpPr>
        <p:spPr/>
        <p:txBody>
          <a:bodyPr/>
          <a:lstStyle/>
          <a:p>
            <a:r>
              <a:rPr lang="en-IN"/>
              <a:t>SCOPE</a:t>
            </a:r>
          </a:p>
        </p:txBody>
      </p:sp>
      <p:sp>
        <p:nvSpPr>
          <p:cNvPr id="4" name="Slide Number Placeholder 3">
            <a:extLst>
              <a:ext uri="{FF2B5EF4-FFF2-40B4-BE49-F238E27FC236}">
                <a16:creationId xmlns:a16="http://schemas.microsoft.com/office/drawing/2014/main" id="{F7407FDC-B2A9-1304-047F-5808A0B6B22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047265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A4847-FC20-D9BF-0BDE-26EC7EF74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D9C584-AC19-D7B4-9DFE-7C1BC2E1BC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4A3262-CE8D-2419-DCCC-C536E9FDA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758D6-7AF2-29C5-E0EE-3B7BE155EC20}"/>
              </a:ext>
            </a:extLst>
          </p:cNvPr>
          <p:cNvSpPr>
            <a:spLocks noGrp="1"/>
          </p:cNvSpPr>
          <p:nvPr>
            <p:ph type="dt" sz="half" idx="10"/>
          </p:nvPr>
        </p:nvSpPr>
        <p:spPr/>
        <p:txBody>
          <a:bodyPr/>
          <a:lstStyle/>
          <a:p>
            <a:fld id="{71D7E9DA-13C6-48A4-9305-B592482DE8CE}" type="datetime1">
              <a:rPr lang="en-IN" smtClean="0"/>
              <a:t>22-08-2026</a:t>
            </a:fld>
            <a:endParaRPr lang="en-IN"/>
          </a:p>
        </p:txBody>
      </p:sp>
      <p:sp>
        <p:nvSpPr>
          <p:cNvPr id="6" name="Footer Placeholder 5">
            <a:extLst>
              <a:ext uri="{FF2B5EF4-FFF2-40B4-BE49-F238E27FC236}">
                <a16:creationId xmlns:a16="http://schemas.microsoft.com/office/drawing/2014/main" id="{45AAC7E7-68C4-7616-2DE1-0333E2C446CC}"/>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5E9EF51B-1685-66FF-0783-23584C25175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75638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39D0E-3A71-7252-C837-B8281F0DED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FE3D557-6893-299F-57A8-A7B173F101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CC8BA2-BB08-F4E3-5660-C7370BA56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57E1CE-C7CA-966D-8661-1E99A7DA2174}"/>
              </a:ext>
            </a:extLst>
          </p:cNvPr>
          <p:cNvSpPr>
            <a:spLocks noGrp="1"/>
          </p:cNvSpPr>
          <p:nvPr>
            <p:ph type="dt" sz="half" idx="10"/>
          </p:nvPr>
        </p:nvSpPr>
        <p:spPr/>
        <p:txBody>
          <a:bodyPr/>
          <a:lstStyle/>
          <a:p>
            <a:fld id="{F45E7C4B-C575-4DCF-9B63-045662930500}" type="datetime1">
              <a:rPr lang="en-IN" smtClean="0"/>
              <a:t>22-08-2026</a:t>
            </a:fld>
            <a:endParaRPr lang="en-IN"/>
          </a:p>
        </p:txBody>
      </p:sp>
      <p:sp>
        <p:nvSpPr>
          <p:cNvPr id="6" name="Footer Placeholder 5">
            <a:extLst>
              <a:ext uri="{FF2B5EF4-FFF2-40B4-BE49-F238E27FC236}">
                <a16:creationId xmlns:a16="http://schemas.microsoft.com/office/drawing/2014/main" id="{66055516-3E64-07E5-10C5-DE056657E44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AFBA5AD5-9867-E76D-C035-2856CCFBC128}"/>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940017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1D7EC-16EA-5009-5D33-ABFC55F281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09EC6D-8ED5-29E9-9444-CC2D6A1CB8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1ADFC6-7CEA-ABEE-94C2-870B1E65737A}"/>
              </a:ext>
            </a:extLst>
          </p:cNvPr>
          <p:cNvSpPr>
            <a:spLocks noGrp="1"/>
          </p:cNvSpPr>
          <p:nvPr>
            <p:ph type="dt" sz="half" idx="10"/>
          </p:nvPr>
        </p:nvSpPr>
        <p:spPr/>
        <p:txBody>
          <a:bodyPr/>
          <a:lstStyle/>
          <a:p>
            <a:fld id="{5576931C-EA1A-43DD-B3B3-66F5BA587712}" type="datetime1">
              <a:rPr lang="en-IN" smtClean="0"/>
              <a:t>22-08-2026</a:t>
            </a:fld>
            <a:endParaRPr lang="en-IN"/>
          </a:p>
        </p:txBody>
      </p:sp>
      <p:sp>
        <p:nvSpPr>
          <p:cNvPr id="5" name="Footer Placeholder 4">
            <a:extLst>
              <a:ext uri="{FF2B5EF4-FFF2-40B4-BE49-F238E27FC236}">
                <a16:creationId xmlns:a16="http://schemas.microsoft.com/office/drawing/2014/main" id="{7B1FA3A5-596E-6C2A-F853-30C5DC6FBF0D}"/>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12CE6B1-CE87-B68F-9494-FA6D109F389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659809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0FF105-FC99-2BCB-131F-2B902F8BAE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354FD6-064F-6E12-E8DE-81EC913CDB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1D2109-32D1-4A0F-F903-5142A204EF48}"/>
              </a:ext>
            </a:extLst>
          </p:cNvPr>
          <p:cNvSpPr>
            <a:spLocks noGrp="1"/>
          </p:cNvSpPr>
          <p:nvPr>
            <p:ph type="dt" sz="half" idx="10"/>
          </p:nvPr>
        </p:nvSpPr>
        <p:spPr/>
        <p:txBody>
          <a:bodyPr/>
          <a:lstStyle/>
          <a:p>
            <a:fld id="{82C9B0E1-7C95-4C20-B9C6-BA51F388E878}" type="datetime1">
              <a:rPr lang="en-IN" smtClean="0"/>
              <a:t>22-08-2026</a:t>
            </a:fld>
            <a:endParaRPr lang="en-IN"/>
          </a:p>
        </p:txBody>
      </p:sp>
      <p:sp>
        <p:nvSpPr>
          <p:cNvPr id="5" name="Footer Placeholder 4">
            <a:extLst>
              <a:ext uri="{FF2B5EF4-FFF2-40B4-BE49-F238E27FC236}">
                <a16:creationId xmlns:a16="http://schemas.microsoft.com/office/drawing/2014/main" id="{73E5353D-EEF9-CF3C-A97F-F0F0EBFA7C59}"/>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DF2F1DC-3958-BCDE-9A16-88E928E7ED2D}"/>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335408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454249-E28B-CF91-F4A6-9762E4F38B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E3D641-7C66-CA7D-30A7-7F95AC27EF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E1D408-B228-838E-3E43-4304680A53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827C3E-786B-4150-9177-1C28966A2ADC}" type="datetime1">
              <a:rPr lang="en-IN" smtClean="0"/>
              <a:t>22-08-2026</a:t>
            </a:fld>
            <a:endParaRPr lang="en-IN"/>
          </a:p>
        </p:txBody>
      </p:sp>
      <p:sp>
        <p:nvSpPr>
          <p:cNvPr id="5" name="Footer Placeholder 4">
            <a:extLst>
              <a:ext uri="{FF2B5EF4-FFF2-40B4-BE49-F238E27FC236}">
                <a16:creationId xmlns:a16="http://schemas.microsoft.com/office/drawing/2014/main" id="{DCEC7A69-1922-F157-900C-FF95668316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SCOPE</a:t>
            </a:r>
          </a:p>
        </p:txBody>
      </p:sp>
      <p:sp>
        <p:nvSpPr>
          <p:cNvPr id="6" name="Slide Number Placeholder 5">
            <a:extLst>
              <a:ext uri="{FF2B5EF4-FFF2-40B4-BE49-F238E27FC236}">
                <a16:creationId xmlns:a16="http://schemas.microsoft.com/office/drawing/2014/main" id="{51B80E76-E345-1553-9664-0BCF569B55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1391841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 Id="rId3" Type="http://schemas.openxmlformats.org/officeDocument/2006/relationships/image" Target="../media/image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9E27CD-EF84-CB3A-3D07-A3152356892A}"/>
              </a:ext>
            </a:extLst>
          </p:cNvPr>
          <p:cNvPicPr>
            <a:picLocks noChangeAspect="1"/>
          </p:cNvPicPr>
          <p:nvPr/>
        </p:nvPicPr>
        <p:blipFill>
          <a:blip r:embed="rId2"/>
          <a:stretch>
            <a:fillRect/>
          </a:stretch>
        </p:blipFill>
        <p:spPr>
          <a:xfrm>
            <a:off x="3837236" y="-11493"/>
            <a:ext cx="4517528" cy="1871634"/>
          </a:xfrm>
          <a:prstGeom prst="rect">
            <a:avLst/>
          </a:prstGeom>
        </p:spPr>
      </p:pic>
      <p:sp>
        <p:nvSpPr>
          <p:cNvPr id="7" name="Title 6">
            <a:extLst>
              <a:ext uri="{FF2B5EF4-FFF2-40B4-BE49-F238E27FC236}">
                <a16:creationId xmlns:a16="http://schemas.microsoft.com/office/drawing/2014/main" id="{8BAD67C4-20B4-E1F6-A7E7-C8C33181D0C9}"/>
              </a:ext>
            </a:extLst>
          </p:cNvPr>
          <p:cNvSpPr txBox="1">
            <a:spLocks noGrp="1"/>
          </p:cNvSpPr>
          <p:nvPr>
            <p:ph type="ctrTitle"/>
          </p:nvPr>
        </p:nvSpPr>
        <p:spPr>
          <a:xfrm>
            <a:off x="1907459" y="1934141"/>
            <a:ext cx="8924544" cy="1089529"/>
          </a:xfrm>
          <a:prstGeom prst="rect">
            <a:avLst/>
          </a:prstGeom>
          <a:noFill/>
        </p:spPr>
        <p:txBody>
          <a:bodyPr wrap="square" rtlCol="0">
            <a:spAutoFit/>
          </a:bodyPr>
          <a:lstStyle/>
          <a:p>
            <a:pPr algn="ctr"/>
            <a:r>
              <a:rPr lang="en-IN" sz="2000" b="1" dirty="0">
                <a:highlight>
                  <a:srgbClr val="FFFF00"/>
                </a:highlight>
                <a:latin typeface="Times New Roman" panose="02020603050405020304" pitchFamily="18" charset="0"/>
                <a:cs typeface="Times New Roman" panose="02020603050405020304" pitchFamily="18" charset="0"/>
              </a:rPr>
              <a:t>B.Tech (CSE)</a:t>
            </a:r>
            <a:r>
              <a:rPr lang="en-IN" sz="2000" b="1" dirty="0" err="1">
                <a:highlight>
                  <a:srgbClr val="FFFF00"/>
                </a:highlight>
                <a:latin typeface="Times New Roman" panose="02020603050405020304" pitchFamily="18" charset="0"/>
                <a:cs typeface="Times New Roman" panose="02020603050405020304" pitchFamily="18" charset="0"/>
              </a:rPr>
              <a:t/>
            </a:r>
            <a:r>
              <a:rPr lang="en-IN" sz="2000" b="1" dirty="0">
                <a:highlight>
                  <a:srgbClr val="FFFF00"/>
                </a:highlight>
                <a:latin typeface="Times New Roman" panose="02020603050405020304" pitchFamily="18" charset="0"/>
                <a:cs typeface="Times New Roman" panose="02020603050405020304" pitchFamily="18" charset="0"/>
              </a:rPr>
              <a:t/>
            </a:r>
            <a:r>
              <a:rPr lang="en-IN" sz="2000" b="1" dirty="0" err="1">
                <a:highlight>
                  <a:srgbClr val="FFFF00"/>
                </a:highlight>
                <a:latin typeface="Times New Roman" panose="02020603050405020304" pitchFamily="18" charset="0"/>
                <a:cs typeface="Times New Roman" panose="02020603050405020304" pitchFamily="18" charset="0"/>
              </a:rPr>
              <a:t/>
            </a:r>
            <a:br>
              <a:rPr lang="en-IN" sz="2000" b="1" dirty="0">
                <a:highlight>
                  <a:srgbClr val="FFFF00"/>
                </a:highlight>
                <a:latin typeface="Times New Roman" panose="02020603050405020304" pitchFamily="18" charset="0"/>
                <a:cs typeface="Times New Roman" panose="02020603050405020304" pitchFamily="18" charset="0"/>
              </a:rPr>
            </a:br>
            <a:r>
              <a:rPr lang="en-IN" sz="2000" b="1" dirty="0">
                <a:highlight>
                  <a:srgbClr val="FFFF00"/>
                </a:highlight>
                <a:latin typeface="Times New Roman" panose="02020603050405020304" pitchFamily="18" charset="0"/>
                <a:cs typeface="Times New Roman" panose="02020603050405020304" pitchFamily="18" charset="0"/>
              </a:rPr>
              <a:t>  |  BCSE497J - Project-I</a:t>
            </a:r>
            <a:br>
              <a:rPr lang="en-IN" sz="3200" b="1"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AI-Assisted Generation of CUDA-Based Molecular Dynamics Simulations from Natural-Language Descriptions</a:t>
            </a:r>
          </a:p>
        </p:txBody>
      </p:sp>
      <p:sp>
        <p:nvSpPr>
          <p:cNvPr id="9" name="object 3">
            <a:extLst>
              <a:ext uri="{FF2B5EF4-FFF2-40B4-BE49-F238E27FC236}">
                <a16:creationId xmlns:a16="http://schemas.microsoft.com/office/drawing/2014/main" id="{68BC382C-506F-4908-6AC3-C0AA73064F47}"/>
              </a:ext>
            </a:extLst>
          </p:cNvPr>
          <p:cNvSpPr txBox="1"/>
          <p:nvPr/>
        </p:nvSpPr>
        <p:spPr>
          <a:xfrm>
            <a:off x="2609088" y="3208471"/>
            <a:ext cx="7071360" cy="2460809"/>
          </a:xfrm>
          <a:prstGeom prst="rect">
            <a:avLst/>
          </a:prstGeom>
        </p:spPr>
        <p:txBody>
          <a:bodyPr vert="horz" wrap="square" lIns="0" tIns="12700" rIns="0" bIns="0" rtlCol="0">
            <a:spAutoFit/>
          </a:bodyPr>
          <a:lstStyle/>
          <a:p>
            <a:pPr>
              <a:lnSpc>
                <a:spcPct val="100000"/>
              </a:lnSpc>
              <a:spcBef>
                <a:spcPts val="200"/>
              </a:spcBef>
            </a:pPr>
            <a:endParaRPr sz="1800" dirty="0">
              <a:latin typeface="Times New Roman"/>
              <a:cs typeface="Times New Roman"/>
            </a:endParaRPr>
          </a:p>
          <a:p>
            <a:pPr marL="12700">
              <a:lnSpc>
                <a:spcPct val="100000"/>
              </a:lnSpc>
            </a:pPr>
            <a:r>
              <a:rPr sz="2000" spc="-20" dirty="0">
                <a:latin typeface="Times New Roman"/>
                <a:cs typeface="Times New Roman"/>
              </a:rPr>
              <a:t>Team</a:t>
            </a:r>
            <a:r>
              <a:rPr sz="2000" spc="-80" dirty="0">
                <a:latin typeface="Times New Roman"/>
                <a:cs typeface="Times New Roman"/>
              </a:rPr>
              <a:t> </a:t>
            </a:r>
            <a:r>
              <a:rPr sz="2000" spc="-10" dirty="0">
                <a:latin typeface="Times New Roman"/>
                <a:cs typeface="Times New Roman"/>
              </a:rPr>
              <a:t>members:</a:t>
            </a:r>
            <a:endParaRPr sz="2000" dirty="0">
              <a:latin typeface="Times New Roman"/>
              <a:cs typeface="Times New Roman"/>
            </a:endParaRPr>
          </a:p>
          <a:p>
            <a:pPr marL="149225" indent="-136525">
              <a:lnSpc>
                <a:spcPct val="100000"/>
              </a:lnSpc>
              <a:spcBef>
                <a:spcPts val="20"/>
              </a:spcBef>
              <a:buFont typeface="Times New Roman"/>
              <a:buChar char="•"/>
              <a:tabLst>
                <a:tab pos="149225" algn="l"/>
              </a:tabLst>
            </a:pPr>
            <a:r>
              <a:rPr lang="en-IN" sz="2000" b="1" dirty="0">
                <a:latin typeface="Times New Roman"/>
                <a:cs typeface="Times New Roman"/>
              </a:rPr>
              <a:t>Shivani Srivastava		  (</a:t>
            </a:r>
            <a:r>
              <a:rPr lang="en-IN" sz="2000" b="1" dirty="0" err="1">
                <a:latin typeface="Times New Roman"/>
                <a:cs typeface="Times New Roman"/>
              </a:rPr>
              <a:t>23BDS0085</a:t>
            </a:r>
            <a:r>
              <a:rPr lang="en-IN" sz="2000" b="1" dirty="0">
                <a:latin typeface="Times New Roman"/>
                <a:cs typeface="Times New Roman"/>
              </a:rPr>
              <a:t>)</a:t>
            </a:r>
          </a:p>
          <a:p>
            <a:pPr marL="149225" indent="-136525">
              <a:lnSpc>
                <a:spcPct val="100000"/>
              </a:lnSpc>
              <a:spcBef>
                <a:spcPts val="20"/>
              </a:spcBef>
              <a:buFont typeface="Times New Roman"/>
              <a:buChar char="•"/>
              <a:tabLst>
                <a:tab pos="149225" algn="l"/>
              </a:tabLst>
            </a:pPr>
            <a:r>
              <a:rPr lang="en-IN" sz="2000" b="1" dirty="0">
                <a:latin typeface="Times New Roman"/>
                <a:cs typeface="Times New Roman"/>
              </a:rPr>
              <a:t>&lt;&lt;Name&gt;&gt;		  (&lt;&lt;</a:t>
            </a:r>
            <a:r>
              <a:rPr lang="en-IN" sz="2000" b="1" dirty="0" err="1">
                <a:latin typeface="Times New Roman"/>
                <a:cs typeface="Times New Roman"/>
              </a:rPr>
              <a:t>Reg.No</a:t>
            </a:r>
            <a:r>
              <a:rPr lang="en-IN" sz="2000" b="1" dirty="0">
                <a:latin typeface="Times New Roman"/>
                <a:cs typeface="Times New Roman"/>
              </a:rPr>
              <a:t>.&gt;&gt;)</a:t>
            </a:r>
          </a:p>
          <a:p>
            <a:pPr marL="149225" indent="-136525">
              <a:lnSpc>
                <a:spcPct val="100000"/>
              </a:lnSpc>
              <a:spcBef>
                <a:spcPts val="20"/>
              </a:spcBef>
              <a:buFont typeface="Times New Roman"/>
              <a:buChar char="•"/>
              <a:tabLst>
                <a:tab pos="149225" algn="l"/>
              </a:tabLst>
            </a:pPr>
            <a:endParaRPr lang="en-IN" sz="2000" b="1" dirty="0">
              <a:latin typeface="Times New Roman"/>
              <a:cs typeface="Times New Roman"/>
            </a:endParaRPr>
          </a:p>
          <a:p>
            <a:pPr marL="12700">
              <a:lnSpc>
                <a:spcPct val="100000"/>
              </a:lnSpc>
              <a:spcBef>
                <a:spcPts val="100"/>
              </a:spcBef>
            </a:pPr>
            <a:r>
              <a:rPr lang="en-US" sz="2000" dirty="0">
                <a:latin typeface="Times New Roman"/>
                <a:cs typeface="Times New Roman"/>
              </a:rPr>
              <a:t>Faculty</a:t>
            </a:r>
            <a:r>
              <a:rPr lang="en-US" sz="2000" spc="-60" dirty="0">
                <a:latin typeface="Times New Roman"/>
                <a:cs typeface="Times New Roman"/>
              </a:rPr>
              <a:t> </a:t>
            </a:r>
            <a:r>
              <a:rPr lang="en-US" sz="2000" dirty="0">
                <a:latin typeface="Times New Roman"/>
                <a:cs typeface="Times New Roman"/>
              </a:rPr>
              <a:t>guide</a:t>
            </a:r>
            <a:r>
              <a:rPr lang="en-US" sz="2000" spc="-55" dirty="0">
                <a:latin typeface="Times New Roman"/>
                <a:cs typeface="Times New Roman"/>
              </a:rPr>
              <a:t> </a:t>
            </a:r>
            <a:r>
              <a:rPr lang="en-US" sz="2000" spc="-50" dirty="0">
                <a:latin typeface="Times New Roman"/>
                <a:cs typeface="Times New Roman"/>
              </a:rPr>
              <a:t>:</a:t>
            </a:r>
            <a:endParaRPr lang="en-US" sz="2000" dirty="0">
              <a:latin typeface="Times New Roman"/>
              <a:cs typeface="Times New Roman"/>
            </a:endParaRPr>
          </a:p>
          <a:p>
            <a:pPr marL="12700">
              <a:lnSpc>
                <a:spcPct val="100000"/>
              </a:lnSpc>
              <a:spcBef>
                <a:spcPts val="20"/>
              </a:spcBef>
            </a:pPr>
            <a:r>
              <a:rPr lang="en-US" sz="2000" b="1" dirty="0">
                <a:latin typeface="Times New Roman"/>
                <a:cs typeface="Times New Roman"/>
              </a:rPr>
              <a:t/>
            </a:r>
            <a:r>
              <a:rPr lang="en-US" sz="2000" b="1" dirty="0" err="1">
                <a:latin typeface="Times New Roman"/>
                <a:cs typeface="Times New Roman"/>
              </a:rPr>
              <a:t>Dr. Vijayasherly V</a:t>
            </a:r>
            <a:r>
              <a:rPr lang="en-US" sz="2000" b="1" dirty="0">
                <a:latin typeface="Times New Roman"/>
                <a:cs typeface="Times New Roman"/>
              </a:rPr>
              <a:t/>
            </a:r>
            <a:endParaRPr lang="en-US" sz="2000" dirty="0">
              <a:latin typeface="Times New Roman"/>
              <a:cs typeface="Times New Roman"/>
            </a:endParaRPr>
          </a:p>
          <a:p>
            <a:pPr marL="149225" indent="-136525">
              <a:lnSpc>
                <a:spcPct val="100000"/>
              </a:lnSpc>
              <a:spcBef>
                <a:spcPts val="20"/>
              </a:spcBef>
              <a:buFont typeface="Times New Roman"/>
              <a:buChar char="•"/>
              <a:tabLst>
                <a:tab pos="149225" algn="l"/>
              </a:tabLst>
            </a:pPr>
            <a:endParaRPr sz="1800" dirty="0">
              <a:latin typeface="Times New Roman"/>
              <a:cs typeface="Times New Roman"/>
            </a:endParaRPr>
          </a:p>
        </p:txBody>
      </p:sp>
    </p:spTree>
    <p:extLst>
      <p:ext uri="{BB962C8B-B14F-4D97-AF65-F5344CB8AC3E}">
        <p14:creationId xmlns:p14="http://schemas.microsoft.com/office/powerpoint/2010/main" val="4243036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CBE13-A9D6-9564-DA47-597E38E09F70}"/>
              </a:ext>
            </a:extLst>
          </p:cNvPr>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Approval Mail From Guide</a:t>
            </a:r>
          </a:p>
        </p:txBody>
      </p:sp>
      <p:sp>
        <p:nvSpPr>
          <p:cNvPr id="3" name="Content Placeholder 2">
            <a:extLst>
              <a:ext uri="{FF2B5EF4-FFF2-40B4-BE49-F238E27FC236}">
                <a16:creationId xmlns:a16="http://schemas.microsoft.com/office/drawing/2014/main" id="{8233367C-DAD6-6E34-D21A-A981C09442F2}"/>
              </a:ext>
            </a:extLst>
          </p:cNvPr>
          <p:cNvSpPr>
            <a:spLocks noGrp="1"/>
          </p:cNvSpPr>
          <p:nvPr>
            <p:ph idx="1"/>
          </p:nvPr>
        </p:nvSpPr>
        <p:spPr/>
        <p:txBody>
          <a:bodyPr/>
          <a:lstStyle/>
          <a:p>
            <a:r>
              <a:rPr lang="en-IN" i="1" dirty="0">
                <a:highlight>
                  <a:srgbClr val="FFFF00"/>
                </a:highlight>
              </a:rPr>
              <a:t>Get the approval for the following points from your guide through mail before  01-09-2026.(sample attached below)</a:t>
            </a:r>
          </a:p>
        </p:txBody>
      </p:sp>
      <p:sp>
        <p:nvSpPr>
          <p:cNvPr id="4" name="Date Placeholder 3">
            <a:extLst>
              <a:ext uri="{FF2B5EF4-FFF2-40B4-BE49-F238E27FC236}">
                <a16:creationId xmlns:a16="http://schemas.microsoft.com/office/drawing/2014/main" id="{C7827C50-3ED3-2DB6-C227-6784C6CA9E30}"/>
              </a:ext>
            </a:extLst>
          </p:cNvPr>
          <p:cNvSpPr>
            <a:spLocks noGrp="1"/>
          </p:cNvSpPr>
          <p:nvPr>
            <p:ph type="dt" sz="half" idx="10"/>
          </p:nvPr>
        </p:nvSpPr>
        <p:spPr/>
        <p:txBody>
          <a:bodyPr/>
          <a:lstStyle/>
          <a:p>
            <a:fld id="{FEA886FF-1BA7-4533-94E6-869CE1E2970B}" type="datetime1">
              <a:rPr lang="en-IN" smtClean="0"/>
              <a:t>22-08-2026</a:t>
            </a:fld>
            <a:endParaRPr lang="en-IN" dirty="0"/>
          </a:p>
        </p:txBody>
      </p:sp>
      <p:sp>
        <p:nvSpPr>
          <p:cNvPr id="5" name="Footer Placeholder 4">
            <a:extLst>
              <a:ext uri="{FF2B5EF4-FFF2-40B4-BE49-F238E27FC236}">
                <a16:creationId xmlns:a16="http://schemas.microsoft.com/office/drawing/2014/main" id="{56664170-792F-28F8-1C31-5F7A8D69F97E}"/>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E16528B-72DB-0275-6A94-33ABB5CD7075}"/>
              </a:ext>
            </a:extLst>
          </p:cNvPr>
          <p:cNvSpPr>
            <a:spLocks noGrp="1"/>
          </p:cNvSpPr>
          <p:nvPr>
            <p:ph type="sldNum" sz="quarter" idx="12"/>
          </p:nvPr>
        </p:nvSpPr>
        <p:spPr/>
        <p:txBody>
          <a:bodyPr/>
          <a:lstStyle/>
          <a:p>
            <a:fld id="{65201FD4-9D8D-4491-815B-63C7BF4F0034}" type="slidenum">
              <a:rPr lang="en-IN" smtClean="0"/>
              <a:t>2</a:t>
            </a:fld>
            <a:endParaRPr lang="en-IN"/>
          </a:p>
        </p:txBody>
      </p:sp>
      <p:pic>
        <p:nvPicPr>
          <p:cNvPr id="10" name="Picture 9">
            <a:extLst>
              <a:ext uri="{FF2B5EF4-FFF2-40B4-BE49-F238E27FC236}">
                <a16:creationId xmlns:a16="http://schemas.microsoft.com/office/drawing/2014/main" id="{8CFF88D1-7A15-E122-39FA-9C7DA1DFCDF4}"/>
              </a:ext>
            </a:extLst>
          </p:cNvPr>
          <p:cNvPicPr>
            <a:picLocks noChangeAspect="1"/>
          </p:cNvPicPr>
          <p:nvPr/>
        </p:nvPicPr>
        <p:blipFill>
          <a:blip r:embed="rId2"/>
          <a:stretch>
            <a:fillRect/>
          </a:stretch>
        </p:blipFill>
        <p:spPr>
          <a:xfrm>
            <a:off x="673866" y="2653482"/>
            <a:ext cx="11381493" cy="3296214"/>
          </a:xfrm>
          <a:prstGeom prst="rect">
            <a:avLst/>
          </a:prstGeom>
        </p:spPr>
      </p:pic>
    </p:spTree>
    <p:extLst>
      <p:ext uri="{BB962C8B-B14F-4D97-AF65-F5344CB8AC3E}">
        <p14:creationId xmlns:p14="http://schemas.microsoft.com/office/powerpoint/2010/main" val="1256560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68A428-04DA-E6A8-7606-5D2FE5F31C52}"/>
              </a:ext>
            </a:extLst>
          </p:cNvPr>
          <p:cNvSpPr>
            <a:spLocks noGrp="1"/>
          </p:cNvSpPr>
          <p:nvPr>
            <p:ph idx="1"/>
          </p:nvPr>
        </p:nvSpPr>
        <p:spPr/>
        <p:txBody>
          <a:bodyPr>
            <a:normAutofit/>
          </a:bodyPr>
          <a:lstStyle/>
          <a:p>
            <a:r>
              <a:rPr lang="en-IN" dirty="0">
                <a:latin typeface="Times New Roman" panose="02020603050405020304" pitchFamily="18" charset="0"/>
                <a:cs typeface="Times New Roman" panose="02020603050405020304" pitchFamily="18" charset="0"/>
              </a:rPr>
              <a:t>To develop an AI-assisted molecular dynamics simulation framework that allows users to describe simulation requirements in natural language, automatically interprets and configures those requirements, and reduces the effort required to build and run molecular dynamics simulations — enabling users to focus more on scientific research and understanding rather than manually writing simulation code and configurations.</a:t>
            </a:r>
          </a:p>
        </p:txBody>
      </p:sp>
      <p:sp>
        <p:nvSpPr>
          <p:cNvPr id="4" name="object 2">
            <a:extLst>
              <a:ext uri="{FF2B5EF4-FFF2-40B4-BE49-F238E27FC236}">
                <a16:creationId xmlns:a16="http://schemas.microsoft.com/office/drawing/2014/main" id="{027305EA-516C-11F8-8A54-2BA046094ABC}"/>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spc="-25" dirty="0">
                <a:latin typeface="Times New Roman" panose="02020603050405020304" pitchFamily="18" charset="0"/>
                <a:cs typeface="Times New Roman" panose="02020603050405020304" pitchFamily="18" charset="0"/>
              </a:rPr>
              <a:t>Aim</a:t>
            </a:r>
            <a:endParaRPr sz="3000" b="1"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779E6AA7-AE20-8A91-BA42-261BF76A2F8B}"/>
              </a:ext>
            </a:extLst>
          </p:cNvPr>
          <p:cNvSpPr>
            <a:spLocks noGrp="1"/>
          </p:cNvSpPr>
          <p:nvPr>
            <p:ph type="dt" sz="half" idx="10"/>
          </p:nvPr>
        </p:nvSpPr>
        <p:spPr/>
        <p:txBody>
          <a:bodyPr/>
          <a:lstStyle/>
          <a:p>
            <a:fld id="{61736562-4E3F-4038-A291-A7AE35CC3E6A}" type="datetime1">
              <a:rPr lang="en-IN" smtClean="0"/>
              <a:t>22-08-2026</a:t>
            </a:fld>
            <a:endParaRPr lang="en-IN"/>
          </a:p>
        </p:txBody>
      </p:sp>
      <p:sp>
        <p:nvSpPr>
          <p:cNvPr id="8" name="Footer Placeholder 7">
            <a:extLst>
              <a:ext uri="{FF2B5EF4-FFF2-40B4-BE49-F238E27FC236}">
                <a16:creationId xmlns:a16="http://schemas.microsoft.com/office/drawing/2014/main" id="{B77FE434-77F0-B8BE-9198-66090332F3F0}"/>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5AD6A9DA-AEE9-F6FE-EFA8-06396314F7E6}"/>
              </a:ext>
            </a:extLst>
          </p:cNvPr>
          <p:cNvSpPr>
            <a:spLocks noGrp="1"/>
          </p:cNvSpPr>
          <p:nvPr>
            <p:ph type="sldNum" sz="quarter" idx="12"/>
          </p:nvPr>
        </p:nvSpPr>
        <p:spPr/>
        <p:txBody>
          <a:bodyPr/>
          <a:lstStyle/>
          <a:p>
            <a:fld id="{65201FD4-9D8D-4491-815B-63C7BF4F0034}" type="slidenum">
              <a:rPr lang="en-IN" smtClean="0"/>
              <a:t>3</a:t>
            </a:fld>
            <a:endParaRPr lang="en-IN"/>
          </a:p>
        </p:txBody>
      </p:sp>
    </p:spTree>
    <p:extLst>
      <p:ext uri="{BB962C8B-B14F-4D97-AF65-F5344CB8AC3E}">
        <p14:creationId xmlns:p14="http://schemas.microsoft.com/office/powerpoint/2010/main" val="2543518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DED8F-1EBD-2E10-598E-0CA3F56F05DF}"/>
              </a:ext>
            </a:extLst>
          </p:cNvPr>
          <p:cNvSpPr>
            <a:spLocks noGrp="1"/>
          </p:cNvSpPr>
          <p:nvPr>
            <p:ph idx="1"/>
          </p:nvPr>
        </p:nvSpPr>
        <p:spPr/>
        <p:txBody>
          <a:bodyPr>
            <a:normAutofit/>
          </a:bodyPr>
          <a:lstStyle/>
          <a:p>
            <a:r>
              <a:rPr lang="en-IN" dirty="0">
                <a:latin typeface="Times New Roman" panose="02020603050405020304" pitchFamily="18" charset="0"/>
                <a:cs typeface="Times New Roman" panose="02020603050405020304" pitchFamily="18" charset="0"/>
              </a:rPr>
              <a:t>Setting up a molecular dynamics (MD) simulation traditionally demands both deep physics knowledge and low-level, high-performance programming expertise — a combination that puts GPU-accelerated MD out of reach for many students and researchers who understand the science but not the systems programming underneath it. This project proposes an AI-assisted MD framework in which a local Small Language Model (SLM) reads a plain-English description of a desired simulation, extracts the physical parameters and settings it implies, and automatically configures a simulation accordingly — letting the user focus on the scientific question rather than the mechanics of setting one up.</a:t>
            </a:r>
          </a:p>
          <a:p>
            <a:r>
              <a:rPr lang="en-IN" dirty="0">
                <a:latin typeface="Times New Roman" panose="02020603050405020304" pitchFamily="18" charset="0"/>
                <a:cs typeface="Times New Roman" panose="02020603050405020304" pitchFamily="18" charset="0"/>
              </a:rPr>
              <a:t>The language component's role is deliberately restricted to understanding intent and extracting structured parameters; it never generates or modifies simulation physics itself, which is instead handled by a fixed, hand-verified simulation engine. The intended computational direction for this framework is GPU/CUDA acceleration. As a working demonstration, a CPU-based C++ prototype has been implemented — supporting Lennard-Jones and Hard-Sphere models, multiple boundary conditions, and solid/liquid/gas states — with real trajectories shown through an interactive 3D visualization, validating the pipeline end to end.</a:t>
            </a:r>
          </a:p>
        </p:txBody>
      </p:sp>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Abstract</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p:txBody>
          <a:bodyPr/>
          <a:lstStyle/>
          <a:p>
            <a:fld id="{22261D5D-2F82-4210-B67C-C3AADE7FED47}" type="datetime1">
              <a:rPr lang="en-IN" smtClean="0"/>
              <a:t>22-08-2026</a:t>
            </a:fld>
            <a:endParaRPr lang="en-IN"/>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p:txBody>
          <a:bodyPr/>
          <a:lstStyle/>
          <a:p>
            <a:fld id="{65201FD4-9D8D-4491-815B-63C7BF4F0034}" type="slidenum">
              <a:rPr lang="en-IN" smtClean="0"/>
              <a:t>4</a:t>
            </a:fld>
            <a:endParaRPr lang="en-IN"/>
          </a:p>
        </p:txBody>
      </p:sp>
    </p:spTree>
    <p:extLst>
      <p:ext uri="{BB962C8B-B14F-4D97-AF65-F5344CB8AC3E}">
        <p14:creationId xmlns:p14="http://schemas.microsoft.com/office/powerpoint/2010/main" val="3453097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0AE58-8206-476A-BECC-A1ADC0EA154A}"/>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435FB437-6170-6BA2-1A38-A902855A3E61}"/>
              </a:ext>
            </a:extLst>
          </p:cNvPr>
          <p:cNvSpPr txBox="1">
            <a:spLocks noGrp="1"/>
          </p:cNvSpPr>
          <p:nvPr>
            <p:ph type="title"/>
          </p:nvPr>
        </p:nvSpPr>
        <p:spPr>
          <a:xfrm>
            <a:off x="448056"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Literature Review</a:t>
            </a:r>
            <a:endParaRPr sz="30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EB6993A-B8FB-1E92-71D4-98155A7EDC1C}"/>
              </a:ext>
            </a:extLst>
          </p:cNvPr>
          <p:cNvPicPr>
            <a:picLocks noChangeAspect="1"/>
          </p:cNvPicPr>
          <p:nvPr/>
        </p:nvPicPr>
        <p:blipFill>
          <a:blip r:embed="rId3"/>
          <a:stretch>
            <a:fillRect/>
          </a:stretch>
        </p:blipFill>
        <p:spPr>
          <a:xfrm>
            <a:off x="636858" y="4611603"/>
            <a:ext cx="4017612" cy="487722"/>
          </a:xfrm>
          <a:prstGeom prst="rect">
            <a:avLst/>
          </a:prstGeom>
        </p:spPr>
      </p:pic>
      <p:sp>
        <p:nvSpPr>
          <p:cNvPr id="8" name="Date Placeholder 7">
            <a:extLst>
              <a:ext uri="{FF2B5EF4-FFF2-40B4-BE49-F238E27FC236}">
                <a16:creationId xmlns:a16="http://schemas.microsoft.com/office/drawing/2014/main" id="{913BC6E0-D294-E70D-8B27-13FBFEE5E6F7}"/>
              </a:ext>
            </a:extLst>
          </p:cNvPr>
          <p:cNvSpPr>
            <a:spLocks noGrp="1"/>
          </p:cNvSpPr>
          <p:nvPr>
            <p:ph type="dt" sz="half" idx="10"/>
          </p:nvPr>
        </p:nvSpPr>
        <p:spPr/>
        <p:txBody>
          <a:bodyPr/>
          <a:lstStyle/>
          <a:p>
            <a:fld id="{E919193B-09C0-4C85-858C-650926A9B146}" type="datetime1">
              <a:rPr lang="en-IN" smtClean="0"/>
              <a:t>22-08-2026</a:t>
            </a:fld>
            <a:endParaRPr lang="en-IN"/>
          </a:p>
        </p:txBody>
      </p:sp>
      <p:sp>
        <p:nvSpPr>
          <p:cNvPr id="9" name="Footer Placeholder 8">
            <a:extLst>
              <a:ext uri="{FF2B5EF4-FFF2-40B4-BE49-F238E27FC236}">
                <a16:creationId xmlns:a16="http://schemas.microsoft.com/office/drawing/2014/main" id="{1F284BA2-3334-3EC1-0E81-4C909589729F}"/>
              </a:ext>
            </a:extLst>
          </p:cNvPr>
          <p:cNvSpPr>
            <a:spLocks noGrp="1"/>
          </p:cNvSpPr>
          <p:nvPr>
            <p:ph type="ftr" sz="quarter" idx="11"/>
          </p:nvPr>
        </p:nvSpPr>
        <p:spPr/>
        <p:txBody>
          <a:bodyPr/>
          <a:lstStyle/>
          <a:p>
            <a:r>
              <a:rPr lang="en-IN"/>
              <a:t>SCOPE</a:t>
            </a:r>
          </a:p>
        </p:txBody>
      </p:sp>
      <p:sp>
        <p:nvSpPr>
          <p:cNvPr id="10" name="Slide Number Placeholder 9">
            <a:extLst>
              <a:ext uri="{FF2B5EF4-FFF2-40B4-BE49-F238E27FC236}">
                <a16:creationId xmlns:a16="http://schemas.microsoft.com/office/drawing/2014/main" id="{5A8F14EB-D02F-8EDE-87F4-A3F7E8D20C44}"/>
              </a:ext>
            </a:extLst>
          </p:cNvPr>
          <p:cNvSpPr>
            <a:spLocks noGrp="1"/>
          </p:cNvSpPr>
          <p:nvPr>
            <p:ph type="sldNum" sz="quarter" idx="12"/>
          </p:nvPr>
        </p:nvSpPr>
        <p:spPr/>
        <p:txBody>
          <a:bodyPr/>
          <a:lstStyle/>
          <a:p>
            <a:fld id="{65201FD4-9D8D-4491-815B-63C7BF4F0034}" type="slidenum">
              <a:rPr lang="en-IN" smtClean="0"/>
              <a:t>5</a:t>
            </a:fld>
            <a:endParaRPr lang="en-IN"/>
          </a:p>
        </p:txBody>
      </p:sp>
      <p:graphicFrame>
        <p:nvGraphicFramePr>
          <p:cNvPr id="11" name="Table 10"/>
          <p:cNvGraphicFramePr>
            <a:graphicFrameLocks noGrp="1"/>
          </p:cNvGraphicFramePr>
          <p:nvPr/>
        </p:nvGraphicFramePr>
        <p:xfrm>
          <a:off x="794647" y="1374470"/>
          <a:ext cx="10169006" cy="2054520"/>
        </p:xfrm>
        <a:graphic>
          <a:graphicData uri="http://schemas.openxmlformats.org/drawingml/2006/table">
            <a:tbl>
              <a:tblPr firstRow="1" bandRow="1">
                <a:tableStyleId>{5C22544A-7EE6-4342-B048-85BDC9FD1C3A}</a:tableStyleId>
              </a:tblPr>
              <a:tblGrid>
                <a:gridCol w="2033801"/>
                <a:gridCol w="1932111"/>
                <a:gridCol w="1830421"/>
                <a:gridCol w="2033801"/>
                <a:gridCol w="2338872"/>
              </a:tblGrid>
              <a:tr h="320040">
                <a:tc>
                  <a:txBody>
                    <a:bodyPr/>
                    <a:lstStyle/>
                    <a:p>
                      <a:pPr>
                        <a:defRPr sz="900" b="1">
                          <a:solidFill>
                            <a:srgbClr val="FFFFFF"/>
                          </a:solidFill>
                          <a:latin typeface="Times New Roman"/>
                        </a:defRPr>
                      </a:pPr>
                      <a:r>
                        <a:t>Paper / Author</a:t>
                      </a:r>
                    </a:p>
                  </a:txBody>
                  <a:tcPr marT="25400" marB="25400" marL="38100" marR="38100">
                    <a:solidFill>
                      <a:srgbClr val="2F6F5E"/>
                    </a:solidFill>
                  </a:tcPr>
                </a:tc>
                <a:tc>
                  <a:txBody>
                    <a:bodyPr/>
                    <a:lstStyle/>
                    <a:p>
                      <a:pPr>
                        <a:defRPr sz="900" b="1">
                          <a:solidFill>
                            <a:srgbClr val="FFFFFF"/>
                          </a:solidFill>
                          <a:latin typeface="Times New Roman"/>
                        </a:defRPr>
                      </a:pPr>
                      <a:r>
                        <a:t>Objective</a:t>
                      </a:r>
                    </a:p>
                  </a:txBody>
                  <a:tcPr marT="25400" marB="25400" marL="38100" marR="38100">
                    <a:solidFill>
                      <a:srgbClr val="2F6F5E"/>
                    </a:solidFill>
                  </a:tcPr>
                </a:tc>
                <a:tc>
                  <a:txBody>
                    <a:bodyPr/>
                    <a:lstStyle/>
                    <a:p>
                      <a:pPr>
                        <a:defRPr sz="900" b="1">
                          <a:solidFill>
                            <a:srgbClr val="FFFFFF"/>
                          </a:solidFill>
                          <a:latin typeface="Times New Roman"/>
                        </a:defRPr>
                      </a:pPr>
                      <a:r>
                        <a:t>Methodology</a:t>
                      </a:r>
                    </a:p>
                  </a:txBody>
                  <a:tcPr marT="25400" marB="25400" marL="38100" marR="38100">
                    <a:solidFill>
                      <a:srgbClr val="2F6F5E"/>
                    </a:solidFill>
                  </a:tcPr>
                </a:tc>
                <a:tc>
                  <a:txBody>
                    <a:bodyPr/>
                    <a:lstStyle/>
                    <a:p>
                      <a:pPr>
                        <a:defRPr sz="900" b="1">
                          <a:solidFill>
                            <a:srgbClr val="FFFFFF"/>
                          </a:solidFill>
                          <a:latin typeface="Times New Roman"/>
                        </a:defRPr>
                      </a:pPr>
                      <a:r>
                        <a:t>Pros / Cons</a:t>
                      </a:r>
                    </a:p>
                  </a:txBody>
                  <a:tcPr marT="25400" marB="25400" marL="38100" marR="38100">
                    <a:solidFill>
                      <a:srgbClr val="2F6F5E"/>
                    </a:solidFill>
                  </a:tcPr>
                </a:tc>
                <a:tc>
                  <a:txBody>
                    <a:bodyPr/>
                    <a:lstStyle/>
                    <a:p>
                      <a:pPr>
                        <a:defRPr sz="900" b="1">
                          <a:solidFill>
                            <a:srgbClr val="FFFFFF"/>
                          </a:solidFill>
                          <a:latin typeface="Times New Roman"/>
                        </a:defRPr>
                      </a:pPr>
                      <a:r>
                        <a:t>Key Relevance</a:t>
                      </a:r>
                    </a:p>
                  </a:txBody>
                  <a:tcPr marT="25400" marB="25400" marL="38100" marR="38100">
                    <a:solidFill>
                      <a:srgbClr val="2F6F5E"/>
                    </a:solidFill>
                  </a:tcPr>
                </a:tc>
              </a:tr>
              <a:tr h="144540">
                <a:tc>
                  <a:txBody>
                    <a:bodyPr/>
                    <a:lstStyle/>
                    <a:p>
                      <a:pPr>
                        <a:defRPr sz="800" b="0">
                          <a:latin typeface="Times New Roman"/>
                        </a:defRPr>
                      </a:pPr>
                      <a:r>
                        <a:t>Frenkel &amp; Smit (2002)</a:t>
                      </a:r>
                    </a:p>
                  </a:txBody>
                  <a:tcPr marT="25400" marB="25400" marL="38100" marR="38100">
                    <a:solidFill>
                      <a:srgbClr val="FFFFFF"/>
                    </a:solidFill>
                  </a:tcPr>
                </a:tc>
                <a:tc>
                  <a:txBody>
                    <a:bodyPr/>
                    <a:lstStyle/>
                    <a:p>
                      <a:pPr>
                        <a:defRPr sz="800" b="0">
                          <a:latin typeface="Times New Roman"/>
                        </a:defRPr>
                      </a:pPr>
                      <a:r>
                        <a:t>Establish classical MD algorithms</a:t>
                      </a:r>
                    </a:p>
                  </a:txBody>
                  <a:tcPr marT="25400" marB="25400" marL="38100" marR="38100">
                    <a:solidFill>
                      <a:srgbClr val="FFFFFF"/>
                    </a:solidFill>
                  </a:tcPr>
                </a:tc>
                <a:tc>
                  <a:txBody>
                    <a:bodyPr/>
                    <a:lstStyle/>
                    <a:p>
                      <a:pPr>
                        <a:defRPr sz="800" b="0">
                          <a:latin typeface="Times New Roman"/>
                        </a:defRPr>
                      </a:pPr>
                      <a:r>
                        <a:t>Lennard-Jones potential, Verlet integrators, PBC</a:t>
                      </a:r>
                    </a:p>
                  </a:txBody>
                  <a:tcPr marT="25400" marB="25400" marL="38100" marR="38100">
                    <a:solidFill>
                      <a:srgbClr val="FFFFFF"/>
                    </a:solidFill>
                  </a:tcPr>
                </a:tc>
                <a:tc>
                  <a:txBody>
                    <a:bodyPr/>
                    <a:lstStyle/>
                    <a:p>
                      <a:pPr>
                        <a:defRPr sz="800" b="0">
                          <a:latin typeface="Times New Roman"/>
                        </a:defRPr>
                      </a:pPr>
                      <a:r>
                        <a:t>Pro: foundational. Con: no automation</a:t>
                      </a:r>
                    </a:p>
                  </a:txBody>
                  <a:tcPr marT="25400" marB="25400" marL="38100" marR="38100">
                    <a:solidFill>
                      <a:srgbClr val="FFFFFF"/>
                    </a:solidFill>
                  </a:tcPr>
                </a:tc>
                <a:tc>
                  <a:txBody>
                    <a:bodyPr/>
                    <a:lstStyle/>
                    <a:p>
                      <a:pPr>
                        <a:defRPr sz="800" b="0">
                          <a:latin typeface="Times New Roman"/>
                        </a:defRPr>
                      </a:pPr>
                      <a:r>
                        <a:t>Physical basis for this project's engine</a:t>
                      </a:r>
                    </a:p>
                  </a:txBody>
                  <a:tcPr marT="25400" marB="25400" marL="38100" marR="38100">
                    <a:solidFill>
                      <a:srgbClr val="FFFFFF"/>
                    </a:solidFill>
                  </a:tcPr>
                </a:tc>
              </a:tr>
              <a:tr h="144540">
                <a:tc>
                  <a:txBody>
                    <a:bodyPr/>
                    <a:lstStyle/>
                    <a:p>
                      <a:pPr>
                        <a:defRPr sz="800" b="0">
                          <a:latin typeface="Times New Roman"/>
                        </a:defRPr>
                      </a:pPr>
                      <a:r>
                        <a:t>Plimpton, J. Comput. Phys. (1995) — LAMMPS</a:t>
                      </a:r>
                    </a:p>
                  </a:txBody>
                  <a:tcPr marT="25400" marB="25400" marL="38100" marR="38100">
                    <a:solidFill>
                      <a:srgbClr val="F3F7F5"/>
                    </a:solidFill>
                  </a:tcPr>
                </a:tc>
                <a:tc>
                  <a:txBody>
                    <a:bodyPr/>
                    <a:lstStyle/>
                    <a:p>
                      <a:pPr>
                        <a:defRPr sz="800" b="0">
                          <a:latin typeface="Times New Roman"/>
                        </a:defRPr>
                      </a:pPr>
                      <a:r>
                        <a:t>Scalable parallel MD</a:t>
                      </a:r>
                    </a:p>
                  </a:txBody>
                  <a:tcPr marT="25400" marB="25400" marL="38100" marR="38100">
                    <a:solidFill>
                      <a:srgbClr val="F3F7F5"/>
                    </a:solidFill>
                  </a:tcPr>
                </a:tc>
                <a:tc>
                  <a:txBody>
                    <a:bodyPr/>
                    <a:lstStyle/>
                    <a:p>
                      <a:pPr>
                        <a:defRPr sz="800" b="0">
                          <a:latin typeface="Times New Roman"/>
                        </a:defRPr>
                      </a:pPr>
                      <a:r>
                        <a:t>Spatial domain decomposition</a:t>
                      </a:r>
                    </a:p>
                  </a:txBody>
                  <a:tcPr marT="25400" marB="25400" marL="38100" marR="38100">
                    <a:solidFill>
                      <a:srgbClr val="F3F7F5"/>
                    </a:solidFill>
                  </a:tcPr>
                </a:tc>
                <a:tc>
                  <a:txBody>
                    <a:bodyPr/>
                    <a:lstStyle/>
                    <a:p>
                      <a:pPr>
                        <a:defRPr sz="800" b="0">
                          <a:latin typeface="Times New Roman"/>
                        </a:defRPr>
                      </a:pPr>
                      <a:r>
                        <a:t>Pro: mature, scalable. Con: no NL interface</a:t>
                      </a:r>
                    </a:p>
                  </a:txBody>
                  <a:tcPr marT="25400" marB="25400" marL="38100" marR="38100">
                    <a:solidFill>
                      <a:srgbClr val="F3F7F5"/>
                    </a:solidFill>
                  </a:tcPr>
                </a:tc>
                <a:tc>
                  <a:txBody>
                    <a:bodyPr/>
                    <a:lstStyle/>
                    <a:p>
                      <a:pPr>
                        <a:defRPr sz="800" b="0">
                          <a:latin typeface="Times New Roman"/>
                        </a:defRPr>
                      </a:pPr>
                      <a:r>
                        <a:t>Motivates a simpler NL entry point</a:t>
                      </a:r>
                    </a:p>
                  </a:txBody>
                  <a:tcPr marT="25400" marB="25400" marL="38100" marR="38100">
                    <a:solidFill>
                      <a:srgbClr val="F3F7F5"/>
                    </a:solidFill>
                  </a:tcPr>
                </a:tc>
              </a:tr>
              <a:tr h="144540">
                <a:tc>
                  <a:txBody>
                    <a:bodyPr/>
                    <a:lstStyle/>
                    <a:p>
                      <a:pPr>
                        <a:defRPr sz="800" b="0">
                          <a:latin typeface="Times New Roman"/>
                        </a:defRPr>
                      </a:pPr>
                      <a:r>
                        <a:t>Abraham et al., SoftwareX (2015) — GROMACS</a:t>
                      </a:r>
                    </a:p>
                  </a:txBody>
                  <a:tcPr marT="25400" marB="25400" marL="38100" marR="38100">
                    <a:solidFill>
                      <a:srgbClr val="FFFFFF"/>
                    </a:solidFill>
                  </a:tcPr>
                </a:tc>
                <a:tc>
                  <a:txBody>
                    <a:bodyPr/>
                    <a:lstStyle/>
                    <a:p>
                      <a:pPr>
                        <a:defRPr sz="800" b="0">
                          <a:latin typeface="Times New Roman"/>
                        </a:defRPr>
                      </a:pPr>
                      <a:r>
                        <a:t>High-performance biomolecular MD</a:t>
                      </a:r>
                    </a:p>
                  </a:txBody>
                  <a:tcPr marT="25400" marB="25400" marL="38100" marR="38100">
                    <a:solidFill>
                      <a:srgbClr val="FFFFFF"/>
                    </a:solidFill>
                  </a:tcPr>
                </a:tc>
                <a:tc>
                  <a:txBody>
                    <a:bodyPr/>
                    <a:lstStyle/>
                    <a:p>
                      <a:pPr>
                        <a:defRPr sz="800" b="0">
                          <a:latin typeface="Times New Roman"/>
                        </a:defRPr>
                      </a:pPr>
                      <a:r>
                        <a:t>Multi-level CPU+GPU parallelism</a:t>
                      </a:r>
                    </a:p>
                  </a:txBody>
                  <a:tcPr marT="25400" marB="25400" marL="38100" marR="38100">
                    <a:solidFill>
                      <a:srgbClr val="FFFFFF"/>
                    </a:solidFill>
                  </a:tcPr>
                </a:tc>
                <a:tc>
                  <a:txBody>
                    <a:bodyPr/>
                    <a:lstStyle/>
                    <a:p>
                      <a:pPr>
                        <a:defRPr sz="800" b="0">
                          <a:latin typeface="Times New Roman"/>
                        </a:defRPr>
                      </a:pPr>
                      <a:r>
                        <a:t>Pro: highly optimized. Con: manual scripting</a:t>
                      </a:r>
                    </a:p>
                  </a:txBody>
                  <a:tcPr marT="25400" marB="25400" marL="38100" marR="38100">
                    <a:solidFill>
                      <a:srgbClr val="FFFFFF"/>
                    </a:solidFill>
                  </a:tcPr>
                </a:tc>
                <a:tc>
                  <a:txBody>
                    <a:bodyPr/>
                    <a:lstStyle/>
                    <a:p>
                      <a:pPr>
                        <a:defRPr sz="800" b="0">
                          <a:latin typeface="Times New Roman"/>
                        </a:defRPr>
                      </a:pPr>
                      <a:r>
                        <a:t>Raw performance alone doesn't solve configuration effort</a:t>
                      </a:r>
                    </a:p>
                  </a:txBody>
                  <a:tcPr marT="25400" marB="25400" marL="38100" marR="38100">
                    <a:solidFill>
                      <a:srgbClr val="FFFFFF"/>
                    </a:solidFill>
                  </a:tcPr>
                </a:tc>
              </a:tr>
              <a:tr h="144540">
                <a:tc>
                  <a:txBody>
                    <a:bodyPr/>
                    <a:lstStyle/>
                    <a:p>
                      <a:pPr>
                        <a:defRPr sz="800" b="0">
                          <a:latin typeface="Times New Roman"/>
                        </a:defRPr>
                      </a:pPr>
                      <a:r>
                        <a:t>Stone et al., J. Comput. Chem. (2007)</a:t>
                      </a:r>
                    </a:p>
                  </a:txBody>
                  <a:tcPr marT="25400" marB="25400" marL="38100" marR="38100">
                    <a:solidFill>
                      <a:srgbClr val="F3F7F5"/>
                    </a:solidFill>
                  </a:tcPr>
                </a:tc>
                <a:tc>
                  <a:txBody>
                    <a:bodyPr/>
                    <a:lstStyle/>
                    <a:p>
                      <a:pPr>
                        <a:defRPr sz="800" b="0">
                          <a:latin typeface="Times New Roman"/>
                        </a:defRPr>
                      </a:pPr>
                      <a:r>
                        <a:t>Early GPU acceleration of MD</a:t>
                      </a:r>
                    </a:p>
                  </a:txBody>
                  <a:tcPr marT="25400" marB="25400" marL="38100" marR="38100">
                    <a:solidFill>
                      <a:srgbClr val="F3F7F5"/>
                    </a:solidFill>
                  </a:tcPr>
                </a:tc>
                <a:tc>
                  <a:txBody>
                    <a:bodyPr/>
                    <a:lstStyle/>
                    <a:p>
                      <a:pPr>
                        <a:defRPr sz="800" b="0">
                          <a:latin typeface="Times New Roman"/>
                        </a:defRPr>
                      </a:pPr>
                      <a:r>
                        <a:t>CUDA force/energy kernels</a:t>
                      </a:r>
                    </a:p>
                  </a:txBody>
                  <a:tcPr marT="25400" marB="25400" marL="38100" marR="38100">
                    <a:solidFill>
                      <a:srgbClr val="F3F7F5"/>
                    </a:solidFill>
                  </a:tcPr>
                </a:tc>
                <a:tc>
                  <a:txBody>
                    <a:bodyPr/>
                    <a:lstStyle/>
                    <a:p>
                      <a:pPr>
                        <a:defRPr sz="800" b="0">
                          <a:latin typeface="Times New Roman"/>
                        </a:defRPr>
                      </a:pPr>
                      <a:r>
                        <a:t>Pro: large GPU speedups. Con: deep CUDA expertise needed</a:t>
                      </a:r>
                    </a:p>
                  </a:txBody>
                  <a:tcPr marT="25400" marB="25400" marL="38100" marR="38100">
                    <a:solidFill>
                      <a:srgbClr val="F3F7F5"/>
                    </a:solidFill>
                  </a:tcPr>
                </a:tc>
                <a:tc>
                  <a:txBody>
                    <a:bodyPr/>
                    <a:lstStyle/>
                    <a:p>
                      <a:pPr>
                        <a:defRPr sz="800" b="0">
                          <a:latin typeface="Times New Roman"/>
                        </a:defRPr>
                      </a:pPr>
                      <a:r>
                        <a:t>Direct precedent for this project's CUDA direction</a:t>
                      </a:r>
                    </a:p>
                  </a:txBody>
                  <a:tcPr marT="25400" marB="25400" marL="38100" marR="38100">
                    <a:solidFill>
                      <a:srgbClr val="F3F7F5"/>
                    </a:solidFill>
                  </a:tcPr>
                </a:tc>
              </a:tr>
              <a:tr h="144540">
                <a:tc>
                  <a:txBody>
                    <a:bodyPr/>
                    <a:lstStyle/>
                    <a:p>
                      <a:pPr>
                        <a:defRPr sz="800" b="0">
                          <a:latin typeface="Times New Roman"/>
                        </a:defRPr>
                      </a:pPr>
                      <a:r>
                        <a:t>Anderson et al., J. Comput. Phys. (2008) — HOOMD-blue</a:t>
                      </a:r>
                    </a:p>
                  </a:txBody>
                  <a:tcPr marT="25400" marB="25400" marL="38100" marR="38100">
                    <a:solidFill>
                      <a:srgbClr val="FFFFFF"/>
                    </a:solidFill>
                  </a:tcPr>
                </a:tc>
                <a:tc>
                  <a:txBody>
                    <a:bodyPr/>
                    <a:lstStyle/>
                    <a:p>
                      <a:pPr>
                        <a:defRPr sz="800" b="0">
                          <a:latin typeface="Times New Roman"/>
                        </a:defRPr>
                      </a:pPr>
                      <a:r>
                        <a:t>Fully GPU-resident MD engine</a:t>
                      </a:r>
                    </a:p>
                  </a:txBody>
                  <a:tcPr marT="25400" marB="25400" marL="38100" marR="38100">
                    <a:solidFill>
                      <a:srgbClr val="FFFFFF"/>
                    </a:solidFill>
                  </a:tcPr>
                </a:tc>
                <a:tc>
                  <a:txBody>
                    <a:bodyPr/>
                    <a:lstStyle/>
                    <a:p>
                      <a:pPr>
                        <a:defRPr sz="800" b="0">
                          <a:latin typeface="Times New Roman"/>
                        </a:defRPr>
                      </a:pPr>
                      <a:r>
                        <a:t>Custom CUDA kernels for whole loop</a:t>
                      </a:r>
                    </a:p>
                  </a:txBody>
                  <a:tcPr marT="25400" marB="25400" marL="38100" marR="38100">
                    <a:solidFill>
                      <a:srgbClr val="FFFFFF"/>
                    </a:solidFill>
                  </a:tcPr>
                </a:tc>
                <a:tc>
                  <a:txBody>
                    <a:bodyPr/>
                    <a:lstStyle/>
                    <a:p>
                      <a:pPr>
                        <a:defRPr sz="800" b="0">
                          <a:latin typeface="Times New Roman"/>
                        </a:defRPr>
                      </a:pPr>
                      <a:r>
                        <a:t>Pro: no CPU bottleneck. Con: complex internals</a:t>
                      </a:r>
                    </a:p>
                  </a:txBody>
                  <a:tcPr marT="25400" marB="25400" marL="38100" marR="38100">
                    <a:solidFill>
                      <a:srgbClr val="FFFFFF"/>
                    </a:solidFill>
                  </a:tcPr>
                </a:tc>
                <a:tc>
                  <a:txBody>
                    <a:bodyPr/>
                    <a:lstStyle/>
                    <a:p>
                      <a:pPr>
                        <a:defRPr sz="800" b="0">
                          <a:latin typeface="Times New Roman"/>
                        </a:defRPr>
                      </a:pPr>
                      <a:r>
                        <a:t>Reference architecture for a CUDA port</a:t>
                      </a:r>
                    </a:p>
                  </a:txBody>
                  <a:tcPr marT="25400" marB="25400" marL="38100" marR="38100">
                    <a:solidFill>
                      <a:srgbClr val="FFFFFF"/>
                    </a:solidFill>
                  </a:tcPr>
                </a:tc>
              </a:tr>
              <a:tr h="144540">
                <a:tc>
                  <a:txBody>
                    <a:bodyPr/>
                    <a:lstStyle/>
                    <a:p>
                      <a:pPr>
                        <a:defRPr sz="800" b="0">
                          <a:latin typeface="Times New Roman"/>
                        </a:defRPr>
                      </a:pPr>
                      <a:r>
                        <a:t>Eastman et al., PLOS Comput. Biol. (2017) — OpenMM 7</a:t>
                      </a:r>
                    </a:p>
                  </a:txBody>
                  <a:tcPr marT="25400" marB="25400" marL="38100" marR="38100">
                    <a:solidFill>
                      <a:srgbClr val="F3F7F5"/>
                    </a:solidFill>
                  </a:tcPr>
                </a:tc>
                <a:tc>
                  <a:txBody>
                    <a:bodyPr/>
                    <a:lstStyle/>
                    <a:p>
                      <a:pPr>
                        <a:defRPr sz="800" b="0">
                          <a:latin typeface="Times New Roman"/>
                        </a:defRPr>
                      </a:pPr>
                      <a:r>
                        <a:t>Flexible GPU-accelerated MD toolkit</a:t>
                      </a:r>
                    </a:p>
                  </a:txBody>
                  <a:tcPr marT="25400" marB="25400" marL="38100" marR="38100">
                    <a:solidFill>
                      <a:srgbClr val="F3F7F5"/>
                    </a:solidFill>
                  </a:tcPr>
                </a:tc>
                <a:tc>
                  <a:txBody>
                    <a:bodyPr/>
                    <a:lstStyle/>
                    <a:p>
                      <a:pPr>
                        <a:defRPr sz="800" b="0">
                          <a:latin typeface="Times New Roman"/>
                        </a:defRPr>
                      </a:pPr>
                      <a:r>
                        <a:t>Modular plugins over CUDA/OpenCL</a:t>
                      </a:r>
                    </a:p>
                  </a:txBody>
                  <a:tcPr marT="25400" marB="25400" marL="38100" marR="38100">
                    <a:solidFill>
                      <a:srgbClr val="F3F7F5"/>
                    </a:solidFill>
                  </a:tcPr>
                </a:tc>
                <a:tc>
                  <a:txBody>
                    <a:bodyPr/>
                    <a:lstStyle/>
                    <a:p>
                      <a:pPr>
                        <a:defRPr sz="800" b="0">
                          <a:latin typeface="Times New Roman"/>
                        </a:defRPr>
                      </a:pPr>
                      <a:r>
                        <a:t>Pro: flexible, adopted. Con: still API-driven</a:t>
                      </a:r>
                    </a:p>
                  </a:txBody>
                  <a:tcPr marT="25400" marB="25400" marL="38100" marR="38100">
                    <a:solidFill>
                      <a:srgbClr val="F3F7F5"/>
                    </a:solidFill>
                  </a:tcPr>
                </a:tc>
                <a:tc>
                  <a:txBody>
                    <a:bodyPr/>
                    <a:lstStyle/>
                    <a:p>
                      <a:pPr>
                        <a:defRPr sz="800" b="0">
                          <a:latin typeface="Times New Roman"/>
                        </a:defRPr>
                      </a:pPr>
                      <a:r>
                        <a:t>Even flexible toolkits stop at an API, not language</a:t>
                      </a:r>
                    </a:p>
                  </a:txBody>
                  <a:tcPr marT="25400" marB="25400" marL="38100" marR="38100">
                    <a:solidFill>
                      <a:srgbClr val="F3F7F5"/>
                    </a:solidFill>
                  </a:tcPr>
                </a:tc>
              </a:tr>
              <a:tr h="144540">
                <a:tc>
                  <a:txBody>
                    <a:bodyPr/>
                    <a:lstStyle/>
                    <a:p>
                      <a:pPr>
                        <a:defRPr sz="800" b="0">
                          <a:latin typeface="Times New Roman"/>
                        </a:defRPr>
                      </a:pPr>
                      <a:r>
                        <a:t>Behler &amp; Parrinello, PRL (2007)</a:t>
                      </a:r>
                    </a:p>
                  </a:txBody>
                  <a:tcPr marT="25400" marB="25400" marL="38100" marR="38100">
                    <a:solidFill>
                      <a:srgbClr val="FFFFFF"/>
                    </a:solidFill>
                  </a:tcPr>
                </a:tc>
                <a:tc>
                  <a:txBody>
                    <a:bodyPr/>
                    <a:lstStyle/>
                    <a:p>
                      <a:pPr>
                        <a:defRPr sz="800" b="0">
                          <a:latin typeface="Times New Roman"/>
                        </a:defRPr>
                      </a:pPr>
                      <a:r>
                        <a:t>Learn interatomic potentials via neural nets</a:t>
                      </a:r>
                    </a:p>
                  </a:txBody>
                  <a:tcPr marT="25400" marB="25400" marL="38100" marR="38100">
                    <a:solidFill>
                      <a:srgbClr val="FFFFFF"/>
                    </a:solidFill>
                  </a:tcPr>
                </a:tc>
                <a:tc>
                  <a:txBody>
                    <a:bodyPr/>
                    <a:lstStyle/>
                    <a:p>
                      <a:pPr>
                        <a:defRPr sz="800" b="0">
                          <a:latin typeface="Times New Roman"/>
                        </a:defRPr>
                      </a:pPr>
                      <a:r>
                        <a:t>NN-fitted potential energy surfaces</a:t>
                      </a:r>
                    </a:p>
                  </a:txBody>
                  <a:tcPr marT="25400" marB="25400" marL="38100" marR="38100">
                    <a:solidFill>
                      <a:srgbClr val="FFFFFF"/>
                    </a:solidFill>
                  </a:tcPr>
                </a:tc>
                <a:tc>
                  <a:txBody>
                    <a:bodyPr/>
                    <a:lstStyle/>
                    <a:p>
                      <a:pPr>
                        <a:defRPr sz="800" b="0">
                          <a:latin typeface="Times New Roman"/>
                        </a:defRPr>
                      </a:pPr>
                      <a:r>
                        <a:t>Pro: near-quantum accuracy. Con: needs large datasets</a:t>
                      </a:r>
                    </a:p>
                  </a:txBody>
                  <a:tcPr marT="25400" marB="25400" marL="38100" marR="38100">
                    <a:solidFill>
                      <a:srgbClr val="FFFFFF"/>
                    </a:solidFill>
                  </a:tcPr>
                </a:tc>
                <a:tc>
                  <a:txBody>
                    <a:bodyPr/>
                    <a:lstStyle/>
                    <a:p>
                      <a:pPr>
                        <a:defRPr sz="800" b="0">
                          <a:latin typeface="Times New Roman"/>
                        </a:defRPr>
                      </a:pPr>
                      <a:r>
                        <a:t>Contrast: ML inside physics vs. this project's ML outside physics</a:t>
                      </a:r>
                    </a:p>
                  </a:txBody>
                  <a:tcPr marT="25400" marB="25400" marL="38100" marR="38100">
                    <a:solidFill>
                      <a:srgbClr val="FFFFFF"/>
                    </a:solidFill>
                  </a:tcPr>
                </a:tc>
              </a:tr>
              <a:tr h="144540">
                <a:tc>
                  <a:txBody>
                    <a:bodyPr/>
                    <a:lstStyle/>
                    <a:p>
                      <a:pPr>
                        <a:defRPr sz="800" b="0">
                          <a:latin typeface="Times New Roman"/>
                        </a:defRPr>
                      </a:pPr>
                      <a:r>
                        <a:t>Butler et al., Nature (2018)</a:t>
                      </a:r>
                    </a:p>
                  </a:txBody>
                  <a:tcPr marT="25400" marB="25400" marL="38100" marR="38100">
                    <a:solidFill>
                      <a:srgbClr val="F3F7F5"/>
                    </a:solidFill>
                  </a:tcPr>
                </a:tc>
                <a:tc>
                  <a:txBody>
                    <a:bodyPr/>
                    <a:lstStyle/>
                    <a:p>
                      <a:pPr>
                        <a:defRPr sz="800" b="0">
                          <a:latin typeface="Times New Roman"/>
                        </a:defRPr>
                      </a:pPr>
                      <a:r>
                        <a:t>Survey ML across molecular/materials science</a:t>
                      </a:r>
                    </a:p>
                  </a:txBody>
                  <a:tcPr marT="25400" marB="25400" marL="38100" marR="38100">
                    <a:solidFill>
                      <a:srgbClr val="F3F7F5"/>
                    </a:solidFill>
                  </a:tcPr>
                </a:tc>
                <a:tc>
                  <a:txBody>
                    <a:bodyPr/>
                    <a:lstStyle/>
                    <a:p>
                      <a:pPr>
                        <a:defRPr sz="800" b="0">
                          <a:latin typeface="Times New Roman"/>
                        </a:defRPr>
                      </a:pPr>
                      <a:r>
                        <a:t>Literature review</a:t>
                      </a:r>
                    </a:p>
                  </a:txBody>
                  <a:tcPr marT="25400" marB="25400" marL="38100" marR="38100">
                    <a:solidFill>
                      <a:srgbClr val="F3F7F5"/>
                    </a:solidFill>
                  </a:tcPr>
                </a:tc>
                <a:tc>
                  <a:txBody>
                    <a:bodyPr/>
                    <a:lstStyle/>
                    <a:p>
                      <a:pPr>
                        <a:defRPr sz="800" b="0">
                          <a:latin typeface="Times New Roman"/>
                        </a:defRPr>
                      </a:pPr>
                      <a:r>
                        <a:t>Pro: broad, well-cited. Con: not automation-specific</a:t>
                      </a:r>
                    </a:p>
                  </a:txBody>
                  <a:tcPr marT="25400" marB="25400" marL="38100" marR="38100">
                    <a:solidFill>
                      <a:srgbClr val="F3F7F5"/>
                    </a:solidFill>
                  </a:tcPr>
                </a:tc>
                <a:tc>
                  <a:txBody>
                    <a:bodyPr/>
                    <a:lstStyle/>
                    <a:p>
                      <a:pPr>
                        <a:defRPr sz="800" b="0">
                          <a:latin typeface="Times New Roman"/>
                        </a:defRPr>
                      </a:pPr>
                      <a:r>
                        <a:t>General context for ML's role in this space</a:t>
                      </a:r>
                    </a:p>
                  </a:txBody>
                  <a:tcPr marT="25400" marB="25400" marL="38100" marR="38100">
                    <a:solidFill>
                      <a:srgbClr val="F3F7F5"/>
                    </a:solidFill>
                  </a:tcPr>
                </a:tc>
              </a:tr>
              <a:tr h="144540">
                <a:tc>
                  <a:txBody>
                    <a:bodyPr/>
                    <a:lstStyle/>
                    <a:p>
                      <a:pPr>
                        <a:defRPr sz="800" b="0">
                          <a:latin typeface="Times New Roman"/>
                        </a:defRPr>
                      </a:pPr>
                      <a:r>
                        <a:t>Noé et al., Annu. Rev. Phys. Chem. (2020)</a:t>
                      </a:r>
                    </a:p>
                  </a:txBody>
                  <a:tcPr marT="25400" marB="25400" marL="38100" marR="38100">
                    <a:solidFill>
                      <a:srgbClr val="FFFFFF"/>
                    </a:solidFill>
                  </a:tcPr>
                </a:tc>
                <a:tc>
                  <a:txBody>
                    <a:bodyPr/>
                    <a:lstStyle/>
                    <a:p>
                      <a:pPr>
                        <a:defRPr sz="800" b="0">
                          <a:latin typeface="Times New Roman"/>
                        </a:defRPr>
                      </a:pPr>
                      <a:r>
                        <a:t>Survey ML methods for MD</a:t>
                      </a:r>
                    </a:p>
                  </a:txBody>
                  <a:tcPr marT="25400" marB="25400" marL="38100" marR="38100">
                    <a:solidFill>
                      <a:srgbClr val="FFFFFF"/>
                    </a:solidFill>
                  </a:tcPr>
                </a:tc>
                <a:tc>
                  <a:txBody>
                    <a:bodyPr/>
                    <a:lstStyle/>
                    <a:p>
                      <a:pPr>
                        <a:defRPr sz="800" b="0">
                          <a:latin typeface="Times New Roman"/>
                        </a:defRPr>
                      </a:pPr>
                      <a:r>
                        <a:t>Review of ML-for-MD techniques</a:t>
                      </a:r>
                    </a:p>
                  </a:txBody>
                  <a:tcPr marT="25400" marB="25400" marL="38100" marR="38100">
                    <a:solidFill>
                      <a:srgbClr val="FFFFFF"/>
                    </a:solidFill>
                  </a:tcPr>
                </a:tc>
                <a:tc>
                  <a:txBody>
                    <a:bodyPr/>
                    <a:lstStyle/>
                    <a:p>
                      <a:pPr>
                        <a:defRPr sz="800" b="0">
                          <a:latin typeface="Times New Roman"/>
                        </a:defRPr>
                      </a:pPr>
                      <a:r>
                        <a:t>Pro: comprehensive. Con: physics-internal ML only</a:t>
                      </a:r>
                    </a:p>
                  </a:txBody>
                  <a:tcPr marT="25400" marB="25400" marL="38100" marR="38100">
                    <a:solidFill>
                      <a:srgbClr val="FFFFFF"/>
                    </a:solidFill>
                  </a:tcPr>
                </a:tc>
                <a:tc>
                  <a:txBody>
                    <a:bodyPr/>
                    <a:lstStyle/>
                    <a:p>
                      <a:pPr>
                        <a:defRPr sz="800" b="0">
                          <a:latin typeface="Times New Roman"/>
                        </a:defRPr>
                      </a:pPr>
                      <a:r>
                        <a:t>Confirms NL interfaces for MD remain unexplored</a:t>
                      </a:r>
                    </a:p>
                  </a:txBody>
                  <a:tcPr marT="25400" marB="25400" marL="38100" marR="38100">
                    <a:solidFill>
                      <a:srgbClr val="FFFFFF"/>
                    </a:solidFill>
                  </a:tcPr>
                </a:tc>
              </a:tr>
              <a:tr h="144540">
                <a:tc>
                  <a:txBody>
                    <a:bodyPr/>
                    <a:lstStyle/>
                    <a:p>
                      <a:pPr>
                        <a:defRPr sz="800" b="0">
                          <a:latin typeface="Times New Roman"/>
                        </a:defRPr>
                      </a:pPr>
                      <a:r>
                        <a:t>White et al., arXiv:2302.11382 (2023)</a:t>
                      </a:r>
                    </a:p>
                  </a:txBody>
                  <a:tcPr marT="25400" marB="25400" marL="38100" marR="38100">
                    <a:solidFill>
                      <a:srgbClr val="F3F7F5"/>
                    </a:solidFill>
                  </a:tcPr>
                </a:tc>
                <a:tc>
                  <a:txBody>
                    <a:bodyPr/>
                    <a:lstStyle/>
                    <a:p>
                      <a:pPr>
                        <a:defRPr sz="800" b="0">
                          <a:latin typeface="Times New Roman"/>
                        </a:defRPr>
                      </a:pPr>
                      <a:r>
                        <a:t>Catalog reusable prompt-design patterns</a:t>
                      </a:r>
                    </a:p>
                  </a:txBody>
                  <a:tcPr marT="25400" marB="25400" marL="38100" marR="38100">
                    <a:solidFill>
                      <a:srgbClr val="F3F7F5"/>
                    </a:solidFill>
                  </a:tcPr>
                </a:tc>
                <a:tc>
                  <a:txBody>
                    <a:bodyPr/>
                    <a:lstStyle/>
                    <a:p>
                      <a:pPr>
                        <a:defRPr sz="800" b="0">
                          <a:latin typeface="Times New Roman"/>
                        </a:defRPr>
                      </a:pPr>
                      <a:r>
                        <a:t>Pattern-based prompt engineering</a:t>
                      </a:r>
                    </a:p>
                  </a:txBody>
                  <a:tcPr marT="25400" marB="25400" marL="38100" marR="38100">
                    <a:solidFill>
                      <a:srgbClr val="F3F7F5"/>
                    </a:solidFill>
                  </a:tcPr>
                </a:tc>
                <a:tc>
                  <a:txBody>
                    <a:bodyPr/>
                    <a:lstStyle/>
                    <a:p>
                      <a:pPr>
                        <a:defRPr sz="800" b="0">
                          <a:latin typeface="Times New Roman"/>
                        </a:defRPr>
                      </a:pPr>
                      <a:r>
                        <a:t>Pro: improves reliability. Con: needs downstream validation</a:t>
                      </a:r>
                    </a:p>
                  </a:txBody>
                  <a:tcPr marT="25400" marB="25400" marL="38100" marR="38100">
                    <a:solidFill>
                      <a:srgbClr val="F3F7F5"/>
                    </a:solidFill>
                  </a:tcPr>
                </a:tc>
                <a:tc>
                  <a:txBody>
                    <a:bodyPr/>
                    <a:lstStyle/>
                    <a:p>
                      <a:pPr>
                        <a:defRPr sz="800" b="0">
                          <a:latin typeface="Times New Roman"/>
                        </a:defRPr>
                      </a:pPr>
                      <a:r>
                        <a:t>Basis for constraining language output to a fixed schema</a:t>
                      </a:r>
                    </a:p>
                  </a:txBody>
                  <a:tcPr marT="25400" marB="25400" marL="38100" marR="38100">
                    <a:solidFill>
                      <a:srgbClr val="F3F7F5"/>
                    </a:solidFill>
                  </a:tcPr>
                </a:tc>
              </a:tr>
              <a:tr h="144540">
                <a:tc>
                  <a:txBody>
                    <a:bodyPr/>
                    <a:lstStyle/>
                    <a:p>
                      <a:pPr>
                        <a:defRPr sz="800" b="0">
                          <a:latin typeface="Times New Roman"/>
                        </a:defRPr>
                      </a:pPr>
                      <a:r>
                        <a:t>M. Bran et al., Nat. Mach. Intell. (2024) — ChemCrow</a:t>
                      </a:r>
                    </a:p>
                  </a:txBody>
                  <a:tcPr marT="25400" marB="25400" marL="38100" marR="38100">
                    <a:solidFill>
                      <a:srgbClr val="FFFFFF"/>
                    </a:solidFill>
                  </a:tcPr>
                </a:tc>
                <a:tc>
                  <a:txBody>
                    <a:bodyPr/>
                    <a:lstStyle/>
                    <a:p>
                      <a:pPr>
                        <a:defRPr sz="800" b="0">
                          <a:latin typeface="Times New Roman"/>
                        </a:defRPr>
                      </a:pPr>
                      <a:r>
                        <a:t>LLM agent calling verified chemistry tools</a:t>
                      </a:r>
                    </a:p>
                  </a:txBody>
                  <a:tcPr marT="25400" marB="25400" marL="38100" marR="38100">
                    <a:solidFill>
                      <a:srgbClr val="FFFFFF"/>
                    </a:solidFill>
                  </a:tcPr>
                </a:tc>
                <a:tc>
                  <a:txBody>
                    <a:bodyPr/>
                    <a:lstStyle/>
                    <a:p>
                      <a:pPr>
                        <a:defRPr sz="800" b="0">
                          <a:latin typeface="Times New Roman"/>
                        </a:defRPr>
                      </a:pPr>
                      <a:r>
                        <a:t>LLM + tool-calling architecture</a:t>
                      </a:r>
                    </a:p>
                  </a:txBody>
                  <a:tcPr marT="25400" marB="25400" marL="38100" marR="38100">
                    <a:solidFill>
                      <a:srgbClr val="FFFFFF"/>
                    </a:solidFill>
                  </a:tcPr>
                </a:tc>
                <a:tc>
                  <a:txBody>
                    <a:bodyPr/>
                    <a:lstStyle/>
                    <a:p>
                      <a:pPr>
                        <a:defRPr sz="800" b="0">
                          <a:latin typeface="Times New Roman"/>
                        </a:defRPr>
                      </a:pPr>
                      <a:r>
                        <a:t>Pro: keeps LLM out of computation. Con: limited by tool coverage</a:t>
                      </a:r>
                    </a:p>
                  </a:txBody>
                  <a:tcPr marT="25400" marB="25400" marL="38100" marR="38100">
                    <a:solidFill>
                      <a:srgbClr val="FFFFFF"/>
                    </a:solidFill>
                  </a:tcPr>
                </a:tc>
                <a:tc>
                  <a:txBody>
                    <a:bodyPr/>
                    <a:lstStyle/>
                    <a:p>
                      <a:pPr>
                        <a:defRPr sz="800" b="0">
                          <a:latin typeface="Times New Roman"/>
                        </a:defRPr>
                      </a:pPr>
                      <a:r>
                        <a:t>Mirrors this project's core design: extraction vs. verified execution</a:t>
                      </a:r>
                    </a:p>
                  </a:txBody>
                  <a:tcPr marT="25400" marB="25400" marL="38100" marR="38100">
                    <a:solidFill>
                      <a:srgbClr val="FFFFFF"/>
                    </a:solidFill>
                  </a:tcPr>
                </a:tc>
              </a:tr>
              <a:tr h="144540">
                <a:tc>
                  <a:txBody>
                    <a:bodyPr/>
                    <a:lstStyle/>
                    <a:p>
                      <a:pPr>
                        <a:defRPr sz="800" b="0">
                          <a:latin typeface="Times New Roman"/>
                        </a:defRPr>
                      </a:pPr>
                      <a:r>
                        <a:t>Boiko et al., Nature (2023) — Coscientist</a:t>
                      </a:r>
                    </a:p>
                  </a:txBody>
                  <a:tcPr marT="25400" marB="25400" marL="38100" marR="38100">
                    <a:solidFill>
                      <a:srgbClr val="F3F7F5"/>
                    </a:solidFill>
                  </a:tcPr>
                </a:tc>
                <a:tc>
                  <a:txBody>
                    <a:bodyPr/>
                    <a:lstStyle/>
                    <a:p>
                      <a:pPr>
                        <a:defRPr sz="800" b="0">
                          <a:latin typeface="Times New Roman"/>
                        </a:defRPr>
                      </a:pPr>
                      <a:r>
                        <a:t>LLM-driven planning of real experiments</a:t>
                      </a:r>
                    </a:p>
                  </a:txBody>
                  <a:tcPr marT="25400" marB="25400" marL="38100" marR="38100">
                    <a:solidFill>
                      <a:srgbClr val="F3F7F5"/>
                    </a:solidFill>
                  </a:tcPr>
                </a:tc>
                <a:tc>
                  <a:txBody>
                    <a:bodyPr/>
                    <a:lstStyle/>
                    <a:p>
                      <a:pPr>
                        <a:defRPr sz="800" b="0">
                          <a:latin typeface="Times New Roman"/>
                        </a:defRPr>
                      </a:pPr>
                      <a:r>
                        <a:t>LLM orchestrating external tools</a:t>
                      </a:r>
                    </a:p>
                  </a:txBody>
                  <a:tcPr marT="25400" marB="25400" marL="38100" marR="38100">
                    <a:solidFill>
                      <a:srgbClr val="F3F7F5"/>
                    </a:solidFill>
                  </a:tcPr>
                </a:tc>
                <a:tc>
                  <a:txBody>
                    <a:bodyPr/>
                    <a:lstStyle/>
                    <a:p>
                      <a:pPr>
                        <a:defRPr sz="800" b="0">
                          <a:latin typeface="Times New Roman"/>
                        </a:defRPr>
                      </a:pPr>
                      <a:r>
                        <a:t>Pro: real tasks via NL. Con: reliability depends on tools called</a:t>
                      </a:r>
                    </a:p>
                  </a:txBody>
                  <a:tcPr marT="25400" marB="25400" marL="38100" marR="38100">
                    <a:solidFill>
                      <a:srgbClr val="F3F7F5"/>
                    </a:solidFill>
                  </a:tcPr>
                </a:tc>
                <a:tc>
                  <a:txBody>
                    <a:bodyPr/>
                    <a:lstStyle/>
                    <a:p>
                      <a:pPr>
                        <a:defRPr sz="800" b="0">
                          <a:latin typeface="Times New Roman"/>
                        </a:defRPr>
                      </a:pPr>
                      <a:r>
                        <a:t>Evidence NL-driven scientific workflows are a credible direction</a:t>
                      </a:r>
                    </a:p>
                  </a:txBody>
                  <a:tcPr marT="25400" marB="25400" marL="38100" marR="38100">
                    <a:solidFill>
                      <a:srgbClr val="F3F7F5"/>
                    </a:solidFill>
                  </a:tcPr>
                </a:tc>
              </a:tr>
            </a:tbl>
          </a:graphicData>
        </a:graphic>
      </p:graphicFrame>
    </p:spTree>
    <p:extLst>
      <p:ext uri="{BB962C8B-B14F-4D97-AF65-F5344CB8AC3E}">
        <p14:creationId xmlns:p14="http://schemas.microsoft.com/office/powerpoint/2010/main" val="857449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4C5E-26B3-2EE9-895A-F822E4C49E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7F8AC8-6380-9217-CA4C-1FBF1C25C60E}"/>
              </a:ext>
            </a:extLst>
          </p:cNvPr>
          <p:cNvSpPr>
            <a:spLocks noGrp="1"/>
          </p:cNvSpPr>
          <p:nvPr>
            <p:ph idx="1"/>
          </p:nvPr>
        </p:nvSpPr>
        <p:spPr/>
        <p:txBody>
          <a:bodyPr>
            <a:normAutofit/>
          </a:bodyPr>
          <a:lstStyle/>
          <a:p>
            <a:r>
              <a:rPr lang="en-IN" dirty="0">
                <a:latin typeface="Times New Roman" panose="02020603050405020304" pitchFamily="18" charset="0"/>
                <a:cs typeface="Times New Roman" panose="02020603050405020304" pitchFamily="18" charset="0"/>
              </a:rPr>
              <a:t>GPU-accelerated MD toolkits (LAMMPS, GROMACS, OpenMM, HOOMD-blue) are powerful but assume the user already knows how to configure a simulation, or write CUDA for custom behavior — no natural-language entry point exists anywhere in this stack.</a:t>
            </a:r>
          </a:p>
          <a:p>
            <a:r>
              <a:rPr lang="en-IN" dirty="0">
                <a:latin typeface="Times New Roman" panose="02020603050405020304" pitchFamily="18" charset="0"/>
                <a:cs typeface="Times New Roman" panose="02020603050405020304" pitchFamily="18" charset="0"/>
              </a:rPr>
              <a:t>General-purpose LLMs can generate code, but nothing constrains the generated code to be physically correct — unconstrained LLM-generated low-level/parallel code is known to be unreliable.</a:t>
            </a:r>
          </a:p>
          <a:p>
            <a:r>
              <a:rPr lang="en-IN" dirty="0">
                <a:latin typeface="Times New Roman" panose="02020603050405020304" pitchFamily="18" charset="0"/>
                <a:cs typeface="Times New Roman" panose="02020603050405020304" pitchFamily="18" charset="0"/>
              </a:rPr>
              <a:t>Emerging LLM-tool-use systems (ChemCrow, Coscientist) show natural language can drive real scientific workflows when the LLM is restricted to calling verified tools — but this pattern hasn't been applied to GPU-accelerated MD specifically.</a:t>
            </a:r>
          </a:p>
          <a:p>
            <a:r>
              <a:rPr lang="en-IN" dirty="0">
                <a:latin typeface="Times New Roman" panose="02020603050405020304" pitchFamily="18" charset="0"/>
                <a:cs typeface="Times New Roman" panose="02020603050405020304" pitchFamily="18" charset="0"/>
              </a:rPr>
              <a:t>This project addresses that gap: a local language-understanding component restricted to parameter extraction only, paired with a fixed, hand-verified simulation engine, with GPU/CUDA acceleration as the intended target.</a:t>
            </a:r>
          </a:p>
        </p:txBody>
      </p:sp>
      <p:sp>
        <p:nvSpPr>
          <p:cNvPr id="4" name="object 2">
            <a:extLst>
              <a:ext uri="{FF2B5EF4-FFF2-40B4-BE49-F238E27FC236}">
                <a16:creationId xmlns:a16="http://schemas.microsoft.com/office/drawing/2014/main" id="{2E07AC55-BA5E-4123-39E6-B79860C6C9EE}"/>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Research Gap</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A2430A72-466B-CBDE-2F02-635BA91A98AF}"/>
              </a:ext>
            </a:extLst>
          </p:cNvPr>
          <p:cNvSpPr>
            <a:spLocks noGrp="1"/>
          </p:cNvSpPr>
          <p:nvPr>
            <p:ph type="dt" sz="half" idx="10"/>
          </p:nvPr>
        </p:nvSpPr>
        <p:spPr/>
        <p:txBody>
          <a:bodyPr/>
          <a:lstStyle/>
          <a:p>
            <a:fld id="{49AE986A-8308-4C4E-A0F3-DDD9B5B25762}" type="datetime1">
              <a:rPr lang="en-IN" smtClean="0"/>
              <a:t>22-08-2026</a:t>
            </a:fld>
            <a:endParaRPr lang="en-IN"/>
          </a:p>
        </p:txBody>
      </p:sp>
      <p:sp>
        <p:nvSpPr>
          <p:cNvPr id="5" name="Footer Placeholder 4">
            <a:extLst>
              <a:ext uri="{FF2B5EF4-FFF2-40B4-BE49-F238E27FC236}">
                <a16:creationId xmlns:a16="http://schemas.microsoft.com/office/drawing/2014/main" id="{1711DDA3-7A7C-1F61-1795-3A01ED678FA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D94E3226-1DB1-3A4D-CE37-4A2AD48EF1F1}"/>
              </a:ext>
            </a:extLst>
          </p:cNvPr>
          <p:cNvSpPr>
            <a:spLocks noGrp="1"/>
          </p:cNvSpPr>
          <p:nvPr>
            <p:ph type="sldNum" sz="quarter" idx="12"/>
          </p:nvPr>
        </p:nvSpPr>
        <p:spPr/>
        <p:txBody>
          <a:bodyPr/>
          <a:lstStyle/>
          <a:p>
            <a:fld id="{65201FD4-9D8D-4491-815B-63C7BF4F0034}" type="slidenum">
              <a:rPr lang="en-IN" smtClean="0"/>
              <a:t>6</a:t>
            </a:fld>
            <a:endParaRPr lang="en-IN"/>
          </a:p>
        </p:txBody>
      </p:sp>
    </p:spTree>
    <p:extLst>
      <p:ext uri="{BB962C8B-B14F-4D97-AF65-F5344CB8AC3E}">
        <p14:creationId xmlns:p14="http://schemas.microsoft.com/office/powerpoint/2010/main" val="2623102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50AAC-0156-D6F5-7153-C791999940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83ADE1-559A-2DC2-A801-6A915E106C60}"/>
              </a:ext>
            </a:extLst>
          </p:cNvPr>
          <p:cNvSpPr>
            <a:spLocks noGrp="1"/>
          </p:cNvSpPr>
          <p:nvPr>
            <p:ph idx="1"/>
          </p:nvPr>
        </p:nvSpPr>
        <p:spPr/>
        <p:txBody>
          <a:bodyPr>
            <a:normAutofit/>
          </a:bodyPr>
          <a:lstStyle/>
          <a:p>
            <a:r>
              <a:rPr lang="en-IN" dirty="0">
                <a:latin typeface="Times New Roman" panose="02020603050405020304" pitchFamily="18" charset="0"/>
                <a:cs typeface="Times New Roman" panose="02020603050405020304" pitchFamily="18" charset="0"/>
              </a:rPr>
              <a:t>Design a structured parameter schema capturing a full MD simulation request — particle count, density/temperature, interaction model, state of matter, boundary/container settings.</a:t>
            </a:r>
          </a:p>
          <a:p>
            <a:r>
              <a:rPr lang="en-IN" dirty="0">
                <a:latin typeface="Times New Roman" panose="02020603050405020304" pitchFamily="18" charset="0"/>
                <a:cs typeface="Times New Roman" panose="02020603050405020304" pitchFamily="18" charset="0"/>
              </a:rPr>
              <a:t>Build a local language-understanding component converting natural language into this schema, with no external AI API — validated here with a rule-based extractor, a full local SLM identified as the target upgrade.</a:t>
            </a:r>
          </a:p>
          <a:p>
            <a:r>
              <a:rPr lang="en-IN" dirty="0">
                <a:latin typeface="Times New Roman" panose="02020603050405020304" pitchFamily="18" charset="0"/>
                <a:cs typeface="Times New Roman" panose="02020603050405020304" pitchFamily="18" charset="0"/>
              </a:rPr>
              <a:t>Implement a validation layer checking physical feasibility before any simulation runs.</a:t>
            </a:r>
          </a:p>
          <a:p>
            <a:r>
              <a:rPr lang="en-IN" dirty="0">
                <a:latin typeface="Times New Roman" panose="02020603050405020304" pitchFamily="18" charset="0"/>
                <a:cs typeface="Times New Roman" panose="02020603050405020304" pitchFamily="18" charset="0"/>
              </a:rPr>
              <a:t>Demonstrate the complete natural-language → configured → executed → visualized pipeline on a CPU-based prototype, proving the pipeline design is sound.</a:t>
            </a:r>
          </a:p>
          <a:p>
            <a:r>
              <a:rPr lang="en-IN" dirty="0">
                <a:latin typeface="Times New Roman" panose="02020603050405020304" pitchFamily="18" charset="0"/>
                <a:cs typeface="Times New Roman" panose="02020603050405020304" pitchFamily="18" charset="0"/>
              </a:rPr>
              <a:t>Establish a simulation engine architecture whose core computation is structured for a future CUDA/GPU port, carrying the accessibility gains to large-scale simulation.</a:t>
            </a:r>
          </a:p>
        </p:txBody>
      </p:sp>
      <p:sp>
        <p:nvSpPr>
          <p:cNvPr id="4" name="object 2">
            <a:extLst>
              <a:ext uri="{FF2B5EF4-FFF2-40B4-BE49-F238E27FC236}">
                <a16:creationId xmlns:a16="http://schemas.microsoft.com/office/drawing/2014/main" id="{22BADD22-870A-4D8F-B788-CCCD5C223F9A}"/>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Objectives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1BE4F0EB-E8F1-14D8-E22A-38E83F9BFA94}"/>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22-08-2026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76D8B93F-BA73-08B5-E0DD-D434FA25B92B}"/>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E6BABF72-E9F9-626A-63CD-EA20C0714ABC}"/>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7</a:t>
            </a:fld>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2632EBB-2D05-8D00-7F98-43CBAFAF06ED}"/>
              </a:ext>
            </a:extLst>
          </p:cNvPr>
          <p:cNvSpPr txBox="1"/>
          <p:nvPr/>
        </p:nvSpPr>
        <p:spPr>
          <a:xfrm>
            <a:off x="460248" y="4413148"/>
            <a:ext cx="11523407" cy="89255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Identified:  Sustainable Development Goals — SDG 9 (Primary), SDG 4 (Secondary)   |   </a:t>
            </a:r>
            <a:r>
              <a:rPr lang="en-IN" sz="1600" dirty="0">
                <a:latin typeface="Times New Roman" panose="02020603050405020304" pitchFamily="18" charset="0"/>
                <a:cs typeface="Times New Roman" panose="02020603050405020304" pitchFamily="18" charset="0"/>
              </a:rPr>
              <a:t>Outcomes: </a:t>
            </a:r>
            <a:r>
              <a:rPr lang="en-US" sz="1600" dirty="0">
                <a:latin typeface="Times New Roman" panose="02020603050405020304" pitchFamily="18" charset="0"/>
                <a:cs typeface="Times New Roman" panose="02020603050405020304" pitchFamily="18" charset="0"/>
              </a:rPr>
              <a:t>Product (Working Prototype / Proof of Concept)</a:t>
            </a:r>
          </a:p>
          <a:p>
            <a:r>
              <a:rPr lang="en-US" sz="1600" dirty="0">
                <a:latin typeface="Times New Roman" panose="02020603050405020304" pitchFamily="18" charset="0"/>
                <a:cs typeface="Times New Roman" panose="02020603050405020304" pitchFamily="18" charset="0"/>
              </a:rPr>
              <a:t/>
            </a:r>
            <a:endParaRPr lang="en-IN" sz="16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8" name="Picture 7" descr="3 The UN 17 Sustainable Development Goals (SDGs), implemented by all... | Download Scientific Diagram">
            <a:extLst>
              <a:ext uri="{FF2B5EF4-FFF2-40B4-BE49-F238E27FC236}">
                <a16:creationId xmlns:a16="http://schemas.microsoft.com/office/drawing/2014/main" id="{36180A9B-AA72-E2D6-8362-4CDF7058D84A}"/>
              </a:ext>
            </a:extLst>
          </p:cNvPr>
          <p:cNvPicPr>
            <a:picLocks noChangeAspect="1"/>
          </p:cNvPicPr>
          <p:nvPr/>
        </p:nvPicPr>
        <p:blipFill>
          <a:blip r:embed="rId2"/>
          <a:stretch>
            <a:fillRect/>
          </a:stretch>
        </p:blipFill>
        <p:spPr>
          <a:xfrm>
            <a:off x="1990701" y="4778273"/>
            <a:ext cx="1968651" cy="1578077"/>
          </a:xfrm>
          <a:prstGeom prst="rect">
            <a:avLst/>
          </a:prstGeom>
        </p:spPr>
      </p:pic>
      <p:pic>
        <p:nvPicPr>
          <p:cNvPr id="9" name="Picture 8" descr="What are Technology Readiness Levels (TRL)? - TWI">
            <a:extLst>
              <a:ext uri="{FF2B5EF4-FFF2-40B4-BE49-F238E27FC236}">
                <a16:creationId xmlns:a16="http://schemas.microsoft.com/office/drawing/2014/main" id="{D1491C9C-07B3-89C3-5FA0-72C9F44F30AC}"/>
              </a:ext>
            </a:extLst>
          </p:cNvPr>
          <p:cNvPicPr>
            <a:picLocks noChangeAspect="1"/>
          </p:cNvPicPr>
          <p:nvPr/>
        </p:nvPicPr>
        <p:blipFill>
          <a:blip r:embed="rId3"/>
          <a:stretch>
            <a:fillRect/>
          </a:stretch>
        </p:blipFill>
        <p:spPr>
          <a:xfrm>
            <a:off x="5237545" y="4413148"/>
            <a:ext cx="2447027" cy="2232651"/>
          </a:xfrm>
          <a:prstGeom prst="rect">
            <a:avLst/>
          </a:prstGeom>
        </p:spPr>
      </p:pic>
    </p:spTree>
    <p:extLst>
      <p:ext uri="{BB962C8B-B14F-4D97-AF65-F5344CB8AC3E}">
        <p14:creationId xmlns:p14="http://schemas.microsoft.com/office/powerpoint/2010/main" val="2335962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49C0F-2490-21B4-8186-6F75540ACED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FBB131-7217-3694-F593-4021591CC64F}"/>
              </a:ext>
            </a:extLst>
          </p:cNvPr>
          <p:cNvSpPr>
            <a:spLocks noGrp="1"/>
          </p:cNvSpPr>
          <p:nvPr>
            <p:ph idx="1"/>
          </p:nvPr>
        </p:nvSpPr>
        <p:spPr/>
        <p:txBody>
          <a:bodyPr>
            <a:normAutofit/>
          </a:bodyPr>
          <a:lstStyle/>
          <a:p>
            <a:r>
              <a:rPr lang="en-IN" dirty="0">
                <a:latin typeface="Times New Roman" panose="02020603050405020304" pitchFamily="18" charset="0"/>
                <a:cs typeface="Times New Roman" panose="02020603050405020304" pitchFamily="18" charset="0"/>
              </a:rPr>
              <a:t>The pipeline is designed so the execution backend is swappable: the CPU engine built for this review demonstrates the full pipeline end-to-end, while the same configuration format is intended to drive a CUDA-accelerated engine for large-scale runs. The language-understanding step's role is fixed regardless of backend — it only ever produces parameters, never simulation code.</a:t>
            </a:r>
          </a:p>
          <a:p>
            <a:r>
              <a:rPr lang="en-IN" dirty="0">
                <a:latin typeface="Times New Roman" panose="02020603050405020304" pitchFamily="18" charset="0"/>
                <a:cs typeface="Times New Roman" panose="02020603050405020304" pitchFamily="18" charset="0"/>
              </a:rPr>
              <a:t/>
            </a:r>
          </a:p>
        </p:txBody>
      </p:sp>
      <p:sp>
        <p:nvSpPr>
          <p:cNvPr id="4" name="object 2">
            <a:extLst>
              <a:ext uri="{FF2B5EF4-FFF2-40B4-BE49-F238E27FC236}">
                <a16:creationId xmlns:a16="http://schemas.microsoft.com/office/drawing/2014/main" id="{5DE9EA00-8D77-8DC9-1AE3-8B6FD1AF6BC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Framework/Architecture/Block Diagram</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3B40592E-46EE-B4F2-7D01-D3568C2F685A}"/>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22-08-2026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5BCDC439-5940-84EE-247A-E3018795A431}"/>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A6CB23C8-7091-8CFB-BF2C-3A19CCA810FF}"/>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8</a:t>
            </a:fld>
            <a:endParaRPr lang="en-IN" dirty="0">
              <a:latin typeface="Times New Roman" panose="02020603050405020304" pitchFamily="18" charset="0"/>
              <a:cs typeface="Times New Roman" panose="02020603050405020304" pitchFamily="18" charset="0"/>
            </a:endParaRPr>
          </a:p>
        </p:txBody>
      </p:sp>
      <p:pic>
        <p:nvPicPr>
          <p:cNvPr id="7" name="Picture 6" descr="fig_pipeline.png"/>
          <p:cNvPicPr>
            <a:picLocks noChangeAspect="1"/>
          </p:cNvPicPr>
          <p:nvPr/>
        </p:nvPicPr>
        <p:blipFill>
          <a:blip r:embed="rId2"/>
          <a:stretch>
            <a:fillRect/>
          </a:stretch>
        </p:blipFill>
        <p:spPr>
          <a:xfrm>
            <a:off x="640080" y="2468880"/>
            <a:ext cx="7680960" cy="4886472"/>
          </a:xfrm>
          <a:prstGeom prst="rect">
            <a:avLst/>
          </a:prstGeom>
        </p:spPr>
      </p:pic>
    </p:spTree>
    <p:extLst>
      <p:ext uri="{BB962C8B-B14F-4D97-AF65-F5344CB8AC3E}">
        <p14:creationId xmlns:p14="http://schemas.microsoft.com/office/powerpoint/2010/main" val="63813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95AF1-B807-AC15-9C1A-B86677AF63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F324FF-B70A-2FC0-8FD0-C802E31DDBD0}"/>
              </a:ext>
            </a:extLst>
          </p:cNvPr>
          <p:cNvSpPr>
            <a:spLocks noGrp="1"/>
          </p:cNvSpPr>
          <p:nvPr>
            <p:ph idx="1"/>
          </p:nvPr>
        </p:nvSpPr>
        <p:spPr/>
        <p:txBody>
          <a:bodyPr>
            <a:normAutofit/>
          </a:bodyPr>
          <a:lstStyle/>
          <a:p>
            <a:r>
              <a:rPr lang="en-IN" dirty="0">
                <a:latin typeface="Times New Roman" panose="02020603050405020304" pitchFamily="18" charset="0"/>
                <a:cs typeface="Times New Roman" panose="02020603050405020304" pitchFamily="18" charset="0"/>
              </a:rPr>
              <a:t>Accept a plain-English simulation description and extract structured parameters locally, with no external AI API.</a:t>
            </a:r>
          </a:p>
          <a:p>
            <a:r>
              <a:rPr lang="en-IN" dirty="0">
                <a:latin typeface="Times New Roman" panose="02020603050405020304" pitchFamily="18" charset="0"/>
                <a:cs typeface="Times New Roman" panose="02020603050405020304" pitchFamily="18" charset="0"/>
              </a:rPr>
              <a:t>Accept manual parameter entry as an equivalent alternative to natural-language input.</a:t>
            </a:r>
          </a:p>
          <a:p>
            <a:r>
              <a:rPr lang="en-IN" dirty="0">
                <a:latin typeface="Times New Roman" panose="02020603050405020304" pitchFamily="18" charset="0"/>
                <a:cs typeface="Times New Roman" panose="02020603050405020304" pitchFamily="18" charset="0"/>
              </a:rPr>
              <a:t>Validate all parameters, from either input path, against physical feasibility before configuring a simulation.</a:t>
            </a:r>
          </a:p>
          <a:p>
            <a:r>
              <a:rPr lang="en-IN" dirty="0">
                <a:latin typeface="Times New Roman" panose="02020603050405020304" pitchFamily="18" charset="0"/>
                <a:cs typeface="Times New Roman" panose="02020603050405020304" pitchFamily="18" charset="0"/>
              </a:rPr>
              <a:t>Translate validated parameters into a complete simulation configuration automatically, without the user writing simulation code.</a:t>
            </a:r>
          </a:p>
          <a:p>
            <a:r>
              <a:rPr lang="en-IN" dirty="0">
                <a:latin typeface="Times New Roman" panose="02020603050405020304" pitchFamily="18" charset="0"/>
                <a:cs typeface="Times New Roman" panose="02020603050405020304" pitchFamily="18" charset="0"/>
              </a:rPr>
              <a:t>Prototype: execute the configured simulation on CPU (Lennard-Jones / Hard-Sphere, periodic or container boundaries).</a:t>
            </a:r>
          </a:p>
          <a:p>
            <a:r>
              <a:rPr lang="en-IN" dirty="0">
                <a:latin typeface="Times New Roman" panose="02020603050405020304" pitchFamily="18" charset="0"/>
                <a:cs typeface="Times New Roman" panose="02020603050405020304" pitchFamily="18" charset="0"/>
              </a:rPr>
              <a:t>Record real trajectories and energy, and present them through an interactive 3D visualization.</a:t>
            </a:r>
          </a:p>
          <a:p>
            <a:r>
              <a:rPr lang="en-IN" dirty="0">
                <a:latin typeface="Times New Roman" panose="02020603050405020304" pitchFamily="18" charset="0"/>
                <a:cs typeface="Times New Roman" panose="02020603050405020304" pitchFamily="18" charset="0"/>
              </a:rPr>
              <a:t>Future scope: keep the configuration format backend-agnostic, so it can drive a CUDA/GPU engine without redesign.</a:t>
            </a:r>
          </a:p>
        </p:txBody>
      </p:sp>
      <p:sp>
        <p:nvSpPr>
          <p:cNvPr id="4" name="object 2">
            <a:extLst>
              <a:ext uri="{FF2B5EF4-FFF2-40B4-BE49-F238E27FC236}">
                <a16:creationId xmlns:a16="http://schemas.microsoft.com/office/drawing/2014/main" id="{0C9A0194-5820-F292-3A94-449C000E51A7}"/>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Functional Requirements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D4F25267-3005-EC45-A624-B78484DFA4EC}"/>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22-08-2026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610022FF-AD0C-E15E-5F17-B2827B5546B1}"/>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BD8D6198-8B2C-26FB-53D2-A5B87C95A4FB}"/>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9</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1299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2F2ED-50F9-3DFA-95BB-1A1059C5D89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3F2560-A5FE-A724-8F39-E7E901E8FADC}"/>
              </a:ext>
            </a:extLst>
          </p:cNvPr>
          <p:cNvSpPr>
            <a:spLocks noGrp="1"/>
          </p:cNvSpPr>
          <p:nvPr>
            <p:ph idx="1"/>
          </p:nvPr>
        </p:nvSpPr>
        <p:spPr/>
        <p:txBody>
          <a:bodyPr>
            <a:normAutofit/>
          </a:bodyPr>
          <a:lstStyle/>
          <a:p>
            <a:r>
              <a:rPr lang="en-IN" dirty="0">
                <a:latin typeface="Times New Roman" panose="02020603050405020304" pitchFamily="18" charset="0"/>
                <a:cs typeface="Times New Roman" panose="02020603050405020304" pitchFamily="18" charset="0"/>
              </a:rPr>
              <a:t>Natural-Language Understanding Module — local, offline; interprets intent. (Prototype: rule-based. Target: local SLM.)</a:t>
            </a:r>
          </a:p>
          <a:p>
            <a:r>
              <a:rPr lang="en-IN" dirty="0">
                <a:latin typeface="Times New Roman" panose="02020603050405020304" pitchFamily="18" charset="0"/>
                <a:cs typeface="Times New Roman" panose="02020603050405020304" pitchFamily="18" charset="0"/>
              </a:rPr>
              <a:t>Parameter Validation Module — checks physical feasibility for either input path.</a:t>
            </a:r>
          </a:p>
          <a:p>
            <a:r>
              <a:rPr lang="en-IN" dirty="0">
                <a:latin typeface="Times New Roman" panose="02020603050405020304" pitchFamily="18" charset="0"/>
                <a:cs typeface="Times New Roman" panose="02020603050405020304" pitchFamily="18" charset="0"/>
              </a:rPr>
              <a:t>Simulation Configuration Module — turns validated parameters into a ready-to-run setup; where “the user stops writing code” happens.</a:t>
            </a:r>
          </a:p>
          <a:p>
            <a:r>
              <a:rPr lang="en-IN" dirty="0">
                <a:latin typeface="Times New Roman" panose="02020603050405020304" pitchFamily="18" charset="0"/>
                <a:cs typeface="Times New Roman" panose="02020603050405020304" pitchFamily="18" charset="0"/>
              </a:rPr>
              <a:t>Simulation Execution Module — runs the configuration. (Prototype: CPU/C++, this review. Target: CUDA/GPU.)</a:t>
            </a:r>
          </a:p>
          <a:p>
            <a:r>
              <a:rPr lang="en-IN" dirty="0">
                <a:latin typeface="Times New Roman" panose="02020603050405020304" pitchFamily="18" charset="0"/>
                <a:cs typeface="Times New Roman" panose="02020603050405020304" pitchFamily="18" charset="0"/>
              </a:rPr>
              <a:t>Output &amp; Visualization Module — captures real trajectory/energy data and renders an interactive 3D view.</a:t>
            </a:r>
          </a:p>
        </p:txBody>
      </p:sp>
      <p:sp>
        <p:nvSpPr>
          <p:cNvPr id="4" name="object 2">
            <a:extLst>
              <a:ext uri="{FF2B5EF4-FFF2-40B4-BE49-F238E27FC236}">
                <a16:creationId xmlns:a16="http://schemas.microsoft.com/office/drawing/2014/main" id="{B27DA514-48FC-4BF4-8205-DE21D456C5FF}"/>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Modules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D74A04E0-6631-130F-A154-C85D978EA39B}"/>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22-08-2026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39615995-EDEB-C984-B852-1229C23B1A05}"/>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067F5109-389C-3E37-E553-A559233EFD96}"/>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10</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9870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556E8-0003-02C5-D37D-A5CC4CE44D5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B67973-736B-B05D-D378-DA7CBE3EBDAD}"/>
              </a:ext>
            </a:extLst>
          </p:cNvPr>
          <p:cNvSpPr>
            <a:spLocks noGrp="1"/>
          </p:cNvSpPr>
          <p:nvPr>
            <p:ph idx="1"/>
          </p:nvPr>
        </p:nvSpPr>
        <p:spPr/>
        <p:txBody>
          <a:bodyPr>
            <a:normAutofit/>
          </a:bodyPr>
          <a:lstStyle/>
          <a:p>
            <a:r>
              <a:rPr lang="en-IN" dirty="0">
                <a:latin typeface="Times New Roman" panose="02020603050405020304" pitchFamily="18" charset="0"/>
                <a:cs typeface="Times New Roman" panose="02020603050405020304" pitchFamily="18" charset="0"/>
              </a:rPr>
              <a:t>Full pipeline demonstrated end-to-end: description → extracted parameters → validated configuration → executed CPU simulation → real 3D visualization, no manual coding step.</a:t>
            </a:r>
          </a:p>
          <a:p>
            <a:r>
              <a:rPr lang="en-IN" dirty="0">
                <a:latin typeface="Times New Roman" panose="02020603050405020304" pitchFamily="18" charset="0"/>
                <a:cs typeface="Times New Roman" panose="02020603050405020304" pitchFamily="18" charset="0"/>
              </a:rPr>
              <a:t>21 automated tests confirm parameter extraction and validation behave correctly across both manual and natural-language input paths.</a:t>
            </a:r>
          </a:p>
          <a:p>
            <a:r>
              <a:rPr lang="en-IN" dirty="0">
                <a:latin typeface="Times New Roman" panose="02020603050405020304" pitchFamily="18" charset="0"/>
                <a:cs typeface="Times New Roman" panose="02020603050405020304" pitchFamily="18" charset="0"/>
              </a:rPr>
              <a:t>CPU prototype physics verified correct — periodic (NVE) runs conserve total energy to within 0.5 reduced units; Hard-Sphere collisions conserve kinetic energy almost exactly.</a:t>
            </a:r>
          </a:p>
          <a:p>
            <a:r>
              <a:rPr lang="en-IN" dirty="0">
                <a:latin typeface="Times New Roman" panose="02020603050405020304" pitchFamily="18" charset="0"/>
                <a:cs typeface="Times New Roman" panose="02020603050405020304" pitchFamily="18" charset="0"/>
              </a:rPr>
              <a:t>Solid, liquid, and gas requests produce visibly distinct, physically appropriate behavior — confirming NL state descriptions map onto real configuration, not cosmetic presets.</a:t>
            </a:r>
          </a:p>
          <a:p>
            <a:r>
              <a:rPr lang="en-IN" dirty="0">
                <a:latin typeface="Times New Roman" panose="02020603050405020304" pitchFamily="18" charset="0"/>
                <a:cs typeface="Times New Roman" panose="02020603050405020304" pitchFamily="18" charset="0"/>
              </a:rPr>
              <a:t>Not yet demonstrated: GPU/CUDA execution (hardware not available) and a full local SLM (prototype uses a rule-based stand-in for this pipeline stage).</a:t>
            </a:r>
          </a:p>
        </p:txBody>
      </p:sp>
      <p:sp>
        <p:nvSpPr>
          <p:cNvPr id="4" name="object 2">
            <a:extLst>
              <a:ext uri="{FF2B5EF4-FFF2-40B4-BE49-F238E27FC236}">
                <a16:creationId xmlns:a16="http://schemas.microsoft.com/office/drawing/2014/main" id="{E386D544-A80A-B599-44C7-B40BA6ECC63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Experiments and Results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5D376B32-FA12-4961-0DBF-EE57A7705BF9}"/>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22-08-2026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B0EF323-27AB-5372-4287-A24CA541146A}"/>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76AAAC16-1233-230F-5D3B-645E6B2832A4}"/>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11</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6188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49A39-F362-DB35-B5DF-7E322AB9CA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4F33DD-84F0-A7F9-A1DC-A4DEA1A7D846}"/>
              </a:ext>
            </a:extLst>
          </p:cNvPr>
          <p:cNvSpPr>
            <a:spLocks noGrp="1"/>
          </p:cNvSpPr>
          <p:nvPr>
            <p:ph idx="1"/>
          </p:nvPr>
        </p:nvSpPr>
        <p:spPr/>
        <p:txBody>
          <a:bodyPr>
            <a:normAutofit/>
          </a:bodyPr>
          <a:lstStyle/>
          <a:p>
            <a:r>
              <a:rPr lang="en-IN" dirty="0">
                <a:latin typeface="Times New Roman" panose="02020603050405020304" pitchFamily="18" charset="0"/>
                <a:cs typeface="Times New Roman" panose="02020603050405020304" pitchFamily="18" charset="0"/>
              </a:rPr>
              <a:t>This project demonstrates that a natural-language, AI-assisted front end to MD simulation is achievable without compromising physical correctness — by strictly separating “understanding intent” from “computing the physics.”</a:t>
            </a:r>
          </a:p>
          <a:p>
            <a:r>
              <a:rPr lang="en-IN" dirty="0">
                <a:latin typeface="Times New Roman" panose="02020603050405020304" pitchFamily="18" charset="0"/>
                <a:cs typeface="Times New Roman" panose="02020603050405020304" pitchFamily="18" charset="0"/>
              </a:rPr>
              <a:t>A working CPU-based prototype validates this pipeline end-to-end: description or manual input → automatic configuration → real simulation → real 3D results.</a:t>
            </a:r>
          </a:p>
          <a:p>
            <a:r>
              <a:rPr lang="en-IN" dirty="0">
                <a:latin typeface="Times New Roman" panose="02020603050405020304" pitchFamily="18" charset="0"/>
                <a:cs typeface="Times New Roman" panose="02020603050405020304" pitchFamily="18" charset="0"/>
              </a:rPr>
              <a:t>The broader goal — accessible, GPU-accelerated MD without deep CUDA expertise — remains the project's intended direction, with this prototype establishing the architecture it will be built on.</a:t>
            </a:r>
          </a:p>
        </p:txBody>
      </p:sp>
      <p:sp>
        <p:nvSpPr>
          <p:cNvPr id="4" name="object 2">
            <a:extLst>
              <a:ext uri="{FF2B5EF4-FFF2-40B4-BE49-F238E27FC236}">
                <a16:creationId xmlns:a16="http://schemas.microsoft.com/office/drawing/2014/main" id="{3754A46F-4AC3-5AF1-0B78-C0B5112BD14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Conclusion</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851BAA61-633E-E24B-7DEE-4B2A2B1FA9A4}"/>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22-08-2026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AB93C553-2D0C-5A0A-39DC-21C43BD88BF0}"/>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6BF7A7E9-45BE-62F4-D3A6-F19DC6ABEDE6}"/>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12</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7498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0E1A0-FA4A-8258-6E10-9F00EDC0BC8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7CFC0C65-61CC-E657-43F7-99C8E5362448}"/>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References</a:t>
            </a:r>
            <a:endParaRPr sz="3000" b="1"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CC4F09CD-956A-B8B3-1183-9C28C80DDB9A}"/>
              </a:ext>
            </a:extLst>
          </p:cNvPr>
          <p:cNvSpPr>
            <a:spLocks noGrp="1" noChangeArrowheads="1"/>
          </p:cNvSpPr>
          <p:nvPr>
            <p:ph idx="1"/>
          </p:nvPr>
        </p:nvSpPr>
        <p:spPr bwMode="auto">
          <a:xfrm>
            <a:off x="545592" y="1442399"/>
            <a:ext cx="105156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IN" sz="2400" dirty="0">
                <a:latin typeface="Times New Roman" panose="02020603050405020304" pitchFamily="18" charset="0"/>
                <a:cs typeface="Times New Roman" panose="02020603050405020304" pitchFamily="18" charset="0"/>
              </a:rPr>
              <a:t>[1]  D. Frenkel and B. Smit, Understanding Molecular Simulation: From Algorithms to Applications, 2nd ed. San Diego, CA: Academic Press, 2002.</a:t>
            </a:r>
            <a:r>
              <a:rPr lang="en-IN" sz="2400" i="1" dirty="0">
                <a:latin typeface="Times New Roman" panose="02020603050405020304" pitchFamily="18" charset="0"/>
                <a:cs typeface="Times New Roman" panose="02020603050405020304" pitchFamily="18" charset="0"/>
              </a:rPr>
              <a:t/>
            </a:r>
            <a:r>
              <a:rPr lang="en-IN" sz="2400" dirty="0">
                <a:latin typeface="Times New Roman" panose="02020603050405020304" pitchFamily="18" charset="0"/>
                <a:cs typeface="Times New Roman" panose="02020603050405020304" pitchFamily="18" charset="0"/>
              </a:rPr>
              <a:t/>
            </a:r>
          </a:p>
          <a:p>
            <a:pPr marL="0" indent="0" eaLnBrk="0" fontAlgn="base" hangingPunct="0">
              <a:lnSpc>
                <a:spcPct val="100000"/>
              </a:lnSpc>
              <a:spcBef>
                <a:spcPct val="0"/>
              </a:spcBef>
              <a:spcAft>
                <a:spcPct val="0"/>
              </a:spcAft>
              <a:buNone/>
            </a:pPr>
            <a:r>
              <a:rPr lang="en-IN" sz="2400" dirty="0">
                <a:latin typeface="Times New Roman" panose="02020603050405020304" pitchFamily="18" charset="0"/>
                <a:cs typeface="Times New Roman" panose="02020603050405020304" pitchFamily="18" charset="0"/>
              </a:rPr>
              <a:t>[2]  S. Plimpton, “Fast parallel algorithms for short-range molecular dynamics,” J. Comput. Phys., vol. 117, no. 1, pp. 1-19, 1995.</a:t>
            </a:r>
            <a:r>
              <a:rPr lang="en-IN" sz="2400" i="1" dirty="0">
                <a:latin typeface="Times New Roman" panose="02020603050405020304" pitchFamily="18" charset="0"/>
                <a:cs typeface="Times New Roman" panose="02020603050405020304" pitchFamily="18" charset="0"/>
              </a:rPr>
              <a:t/>
            </a:r>
            <a:r>
              <a:rPr lang="en-IN" sz="2400" dirty="0">
                <a:latin typeface="Times New Roman" panose="02020603050405020304" pitchFamily="18" charset="0"/>
                <a:cs typeface="Times New Roman" panose="02020603050405020304" pitchFamily="18" charset="0"/>
              </a:rPr>
              <a:t/>
            </a:r>
          </a:p>
          <a:p>
            <a:pPr marL="0" indent="0" eaLnBrk="0" fontAlgn="base" hangingPunct="0">
              <a:lnSpc>
                <a:spcPct val="100000"/>
              </a:lnSpc>
              <a:spcBef>
                <a:spcPct val="0"/>
              </a:spcBef>
              <a:spcAft>
                <a:spcPct val="0"/>
              </a:spcAft>
              <a:buNone/>
            </a:pPr>
            <a:r>
              <a:rPr lang="en-IN" sz="2400" dirty="0">
                <a:latin typeface="Times New Roman" panose="02020603050405020304" pitchFamily="18" charset="0"/>
                <a:cs typeface="Times New Roman" panose="02020603050405020304" pitchFamily="18" charset="0"/>
              </a:rPr>
              <a:t>[3]  M. J. Abraham et al., “GROMACS: High performance molecular simulations through multi-level parallelism from laptops to supercomputers,” SoftwareX, vol. 1-2, pp. 19-25, 2015.</a:t>
            </a:r>
            <a:r>
              <a:rPr lang="en-IN" sz="2400" i="1" dirty="0">
                <a:latin typeface="Times New Roman" panose="02020603050405020304" pitchFamily="18" charset="0"/>
                <a:cs typeface="Times New Roman" panose="02020603050405020304" pitchFamily="18" charset="0"/>
              </a:rPr>
              <a:t/>
            </a:r>
            <a:r>
              <a:rPr lang="en-IN" sz="2400" dirty="0">
                <a:latin typeface="Times New Roman" panose="02020603050405020304" pitchFamily="18" charset="0"/>
                <a:cs typeface="Times New Roman" panose="02020603050405020304" pitchFamily="18" charset="0"/>
              </a:rPr>
              <a:t/>
            </a:r>
          </a:p>
          <a:p>
            <a:pPr marL="0" indent="0" eaLnBrk="0" fontAlgn="base" hangingPunct="0">
              <a:lnSpc>
                <a:spcPct val="100000"/>
              </a:lnSpc>
              <a:spcBef>
                <a:spcPct val="0"/>
              </a:spcBef>
              <a:spcAft>
                <a:spcPct val="0"/>
              </a:spcAft>
              <a:buNone/>
            </a:pPr>
            <a:r>
              <a:rPr lang="en-IN" sz="2400" dirty="0">
                <a:latin typeface="Times New Roman" panose="02020603050405020304" pitchFamily="18" charset="0"/>
                <a:cs typeface="Times New Roman" panose="02020603050405020304" pitchFamily="18" charset="0"/>
              </a:rPr>
              <a:t>[4]  J. E. Stone et al., “Accelerating molecular modeling applications with graphics processors,” J. Comput. Chem., vol. 28, no. 16, pp. 2618-2640, 2007.</a:t>
            </a:r>
            <a:r>
              <a:rPr lang="en-IN" sz="2400" i="1" dirty="0">
                <a:latin typeface="Times New Roman" panose="02020603050405020304" pitchFamily="18" charset="0"/>
                <a:cs typeface="Times New Roman" panose="02020603050405020304" pitchFamily="18" charset="0"/>
              </a:rPr>
              <a:t/>
            </a:r>
            <a:r>
              <a:rPr lang="en-IN" sz="2400" dirty="0">
                <a:latin typeface="Times New Roman" panose="02020603050405020304" pitchFamily="18" charset="0"/>
                <a:cs typeface="Times New Roman" panose="02020603050405020304" pitchFamily="18" charset="0"/>
              </a:rPr>
              <a:t/>
            </a:r>
          </a:p>
          <a:p>
            <a:pPr marL="0" indent="0" eaLnBrk="0" fontAlgn="base" hangingPunct="0">
              <a:lnSpc>
                <a:spcPct val="100000"/>
              </a:lnSpc>
              <a:spcBef>
                <a:spcPct val="0"/>
              </a:spcBef>
              <a:spcAft>
                <a:spcPct val="0"/>
              </a:spcAft>
              <a:buNone/>
            </a:pPr>
            <a:r>
              <a:rPr lang="en-IN" sz="2400" dirty="0">
                <a:latin typeface="Times New Roman" panose="02020603050405020304" pitchFamily="18" charset="0"/>
                <a:cs typeface="Times New Roman" panose="02020603050405020304" pitchFamily="18" charset="0"/>
              </a:rPr>
              <a:t>[5]  J. A. Anderson, C. D. Lorenz, and A. Travesset, “General purpose molecular dynamics simulations fully implemented on graphics processing units,” J. Comput. Phys., vol. 227, no. 10, pp. 5342-5359, 2008.</a:t>
            </a:r>
            <a:r>
              <a:rPr lang="en-IN" sz="2400" i="1" dirty="0">
                <a:latin typeface="Times New Roman" panose="02020603050405020304" pitchFamily="18" charset="0"/>
                <a:cs typeface="Times New Roman" panose="02020603050405020304" pitchFamily="18" charset="0"/>
              </a:rPr>
              <a:t/>
            </a:r>
            <a:r>
              <a:rPr lang="en-IN" sz="2400" dirty="0">
                <a:latin typeface="Times New Roman" panose="02020603050405020304" pitchFamily="18" charset="0"/>
                <a:cs typeface="Times New Roman" panose="02020603050405020304" pitchFamily="18" charset="0"/>
              </a:rPr>
              <a:t/>
            </a:r>
          </a:p>
          <a:p>
            <a:pPr marL="0" indent="0" eaLnBrk="0" fontAlgn="base" hangingPunct="0">
              <a:lnSpc>
                <a:spcPct val="100000"/>
              </a:lnSpc>
              <a:spcBef>
                <a:spcPct val="0"/>
              </a:spcBef>
              <a:spcAft>
                <a:spcPct val="0"/>
              </a:spcAft>
              <a:buNone/>
            </a:pPr>
            <a:r>
              <a:rPr lang="en-IN" sz="2400" dirty="0">
                <a:latin typeface="Times New Roman" panose="02020603050405020304" pitchFamily="18" charset="0"/>
                <a:cs typeface="Times New Roman" panose="02020603050405020304" pitchFamily="18" charset="0"/>
              </a:rPr>
              <a:t>[6]  P. Eastman et al., “OpenMM 7: Rapid development of high performance algorithms for molecular dynamics,” PLOS Comput. Biol., vol. 13, no. 7, 2017.</a:t>
            </a:r>
            <a:r>
              <a:rPr lang="en-IN" sz="2400" i="1" dirty="0">
                <a:latin typeface="Times New Roman" panose="02020603050405020304" pitchFamily="18" charset="0"/>
                <a:cs typeface="Times New Roman" panose="02020603050405020304" pitchFamily="18" charset="0"/>
              </a:rPr>
              <a:t/>
            </a:r>
            <a:r>
              <a:rPr lang="en-IN" sz="2400" dirty="0">
                <a:latin typeface="Times New Roman" panose="02020603050405020304" pitchFamily="18" charset="0"/>
                <a:cs typeface="Times New Roman" panose="02020603050405020304" pitchFamily="18" charset="0"/>
              </a:rPr>
              <a:t/>
            </a:r>
          </a:p>
          <a:p>
            <a:pPr marL="0" indent="0" eaLnBrk="0" fontAlgn="base" hangingPunct="0">
              <a:lnSpc>
                <a:spcPct val="100000"/>
              </a:lnSpc>
              <a:spcBef>
                <a:spcPct val="0"/>
              </a:spcBef>
              <a:spcAft>
                <a:spcPct val="0"/>
              </a:spcAft>
              <a:buNone/>
            </a:pPr>
            <a:r>
              <a:rPr lang="en-IN" sz="2400" dirty="0">
                <a:latin typeface="Times New Roman" panose="02020603050405020304" pitchFamily="18" charset="0"/>
                <a:cs typeface="Times New Roman" panose="02020603050405020304" pitchFamily="18" charset="0"/>
              </a:rPr>
              <a:t>[7]  J. Behler and M. Parrinello, “Generalized neural-network representation of high-dimensional potential-energy surfaces,” Phys. Rev. Lett., vol. 98, 146401, 2007.</a:t>
            </a:r>
            <a:r>
              <a:rPr lang="en-IN" sz="2400" i="1" dirty="0">
                <a:latin typeface="Times New Roman" panose="02020603050405020304" pitchFamily="18" charset="0"/>
                <a:cs typeface="Times New Roman" panose="02020603050405020304" pitchFamily="18" charset="0"/>
              </a:rPr>
              <a:t/>
            </a:r>
            <a:r>
              <a:rPr lang="en-IN" sz="2400" dirty="0">
                <a:latin typeface="Times New Roman" panose="02020603050405020304" pitchFamily="18" charset="0"/>
                <a:cs typeface="Times New Roman" panose="02020603050405020304" pitchFamily="18" charset="0"/>
              </a:rPr>
              <a:t/>
            </a:r>
          </a:p>
          <a:p>
            <a:pPr marL="0" indent="0" eaLnBrk="0" fontAlgn="base" hangingPunct="0">
              <a:lnSpc>
                <a:spcPct val="100000"/>
              </a:lnSpc>
              <a:spcBef>
                <a:spcPct val="0"/>
              </a:spcBef>
              <a:spcAft>
                <a:spcPct val="0"/>
              </a:spcAft>
              <a:buNone/>
            </a:pPr>
            <a:r>
              <a:rPr lang="en-IN" sz="2400" dirty="0">
                <a:latin typeface="Times New Roman" panose="02020603050405020304" pitchFamily="18" charset="0"/>
                <a:cs typeface="Times New Roman" panose="02020603050405020304" pitchFamily="18" charset="0"/>
              </a:rPr>
              <a:t>[8]  K. T. Butler, D. W. Davies, H. Cartwright, O. Isayev, and A. Walsh, “Machine learning for molecular and materials science,” Nature, vol. 559, pp. 547-555, 2018.</a:t>
            </a:r>
            <a:r>
              <a:rPr lang="en-IN" sz="2400" i="1" dirty="0">
                <a:latin typeface="Times New Roman" panose="02020603050405020304" pitchFamily="18" charset="0"/>
                <a:cs typeface="Times New Roman" panose="02020603050405020304" pitchFamily="18" charset="0"/>
              </a:rPr>
              <a:t/>
            </a:r>
            <a:r>
              <a:rPr lang="en-IN" sz="2400" dirty="0">
                <a:latin typeface="Times New Roman" panose="02020603050405020304" pitchFamily="18" charset="0"/>
                <a:cs typeface="Times New Roman" panose="02020603050405020304" pitchFamily="18" charset="0"/>
              </a:rPr>
              <a:t/>
            </a:r>
          </a:p>
          <a:p>
            <a:pPr marL="0" indent="0" eaLnBrk="0" fontAlgn="base" hangingPunct="0">
              <a:lnSpc>
                <a:spcPct val="100000"/>
              </a:lnSpc>
              <a:spcBef>
                <a:spcPct val="0"/>
              </a:spcBef>
              <a:spcAft>
                <a:spcPct val="0"/>
              </a:spcAft>
              <a:buNone/>
            </a:pPr>
            <a:r>
              <a:rPr lang="en-IN" sz="2400" dirty="0">
                <a:latin typeface="Times New Roman" panose="02020603050405020304" pitchFamily="18" charset="0"/>
                <a:cs typeface="Times New Roman" panose="02020603050405020304" pitchFamily="18" charset="0"/>
              </a:rPr>
              <a:t>[9]  F. Noé, A. Tkatchenko, K.-R. Müller, and C. Clementi, “Machine learning for molecular simulation,” Annu. Rev. Phys. Chem., vol. 71, pp. 361-390, 2020.</a:t>
            </a:r>
            <a:r>
              <a:rPr lang="en-IN" sz="2400" i="1" dirty="0">
                <a:latin typeface="Times New Roman" panose="02020603050405020304" pitchFamily="18" charset="0"/>
                <a:cs typeface="Times New Roman" panose="02020603050405020304" pitchFamily="18" charset="0"/>
              </a:rPr>
              <a:t/>
            </a:r>
            <a:r>
              <a:rPr lang="en-IN" sz="2400" dirty="0">
                <a:latin typeface="Times New Roman" panose="02020603050405020304" pitchFamily="18" charset="0"/>
                <a:cs typeface="Times New Roman" panose="02020603050405020304" pitchFamily="18" charset="0"/>
              </a:rPr>
              <a:t/>
            </a:r>
          </a:p>
          <a:p>
            <a:pPr marL="0" indent="0" eaLnBrk="0" fontAlgn="base" hangingPunct="0">
              <a:lnSpc>
                <a:spcPct val="100000"/>
              </a:lnSpc>
              <a:spcBef>
                <a:spcPct val="0"/>
              </a:spcBef>
              <a:spcAft>
                <a:spcPct val="0"/>
              </a:spcAft>
              <a:buNone/>
            </a:pPr>
            <a:r>
              <a:rPr lang="en-IN" sz="2400" dirty="0">
                <a:latin typeface="Times New Roman" panose="02020603050405020304" pitchFamily="18" charset="0"/>
                <a:cs typeface="Times New Roman" panose="02020603050405020304" pitchFamily="18" charset="0"/>
              </a:rPr>
              <a:t>[10]  J. White et al., “A prompt pattern catalog to enhance prompt engineering with ChatGPT,” arXiv:2302.11382, 2023.</a:t>
            </a:r>
            <a:r>
              <a:rPr lang="en-IN" sz="2400" i="1" dirty="0">
                <a:latin typeface="Times New Roman" panose="02020603050405020304" pitchFamily="18" charset="0"/>
                <a:cs typeface="Times New Roman" panose="02020603050405020304" pitchFamily="18" charset="0"/>
              </a:rPr>
              <a:t/>
            </a:r>
            <a:r>
              <a:rPr lang="en-IN" sz="2400" dirty="0">
                <a:latin typeface="Times New Roman" panose="02020603050405020304" pitchFamily="18" charset="0"/>
                <a:cs typeface="Times New Roman" panose="02020603050405020304" pitchFamily="18" charset="0"/>
              </a:rPr>
              <a:t/>
            </a:r>
          </a:p>
          <a:p>
            <a:pPr marL="0" indent="0" eaLnBrk="0" fontAlgn="base" hangingPunct="0">
              <a:lnSpc>
                <a:spcPct val="100000"/>
              </a:lnSpc>
              <a:spcBef>
                <a:spcPct val="0"/>
              </a:spcBef>
              <a:spcAft>
                <a:spcPct val="0"/>
              </a:spcAft>
              <a:buNone/>
            </a:pPr>
            <a:r>
              <a:rPr lang="en-IN" sz="2400" dirty="0">
                <a:latin typeface="Times New Roman" panose="02020603050405020304" pitchFamily="18" charset="0"/>
                <a:cs typeface="Times New Roman" panose="02020603050405020304" pitchFamily="18" charset="0"/>
              </a:rPr>
              <a:t>[11]  A. M. Bran, S. Cox, O. Schilter, C. Baldassari, A. D. White, and P. Schwaller, “Augmenting large language models with chemistry tools,” Nature Machine Intelligence, 2024.</a:t>
            </a:r>
            <a:r>
              <a:rPr lang="en-IN" sz="2400" i="1" dirty="0">
                <a:latin typeface="Times New Roman" panose="02020603050405020304" pitchFamily="18" charset="0"/>
                <a:cs typeface="Times New Roman" panose="02020603050405020304" pitchFamily="18" charset="0"/>
              </a:rPr>
              <a:t/>
            </a:r>
            <a:r>
              <a:rPr lang="en-IN" sz="2400" dirty="0">
                <a:latin typeface="Times New Roman" panose="02020603050405020304" pitchFamily="18" charset="0"/>
                <a:cs typeface="Times New Roman" panose="02020603050405020304" pitchFamily="18" charset="0"/>
              </a:rPr>
              <a:t/>
            </a:r>
          </a:p>
          <a:p>
            <a:pPr marL="0" indent="0" eaLnBrk="0" fontAlgn="base" hangingPunct="0">
              <a:lnSpc>
                <a:spcPct val="100000"/>
              </a:lnSpc>
              <a:spcBef>
                <a:spcPct val="0"/>
              </a:spcBef>
              <a:spcAft>
                <a:spcPct val="0"/>
              </a:spcAft>
              <a:buNone/>
            </a:pPr>
            <a:r>
              <a:rPr lang="en-IN" sz="2400" dirty="0">
                <a:latin typeface="Times New Roman" panose="02020603050405020304" pitchFamily="18" charset="0"/>
                <a:cs typeface="Times New Roman" panose="02020603050405020304" pitchFamily="18" charset="0"/>
              </a:rPr>
              <a:t>[12]  D. A. Boiko, R. MacKnight, B. Kline, and G. Gomes, “Autonomous chemical research with large language models,” Nature, vol. 624, pp. 570-578, 2023.</a:t>
            </a:r>
            <a:r>
              <a:rPr lang="en-IN" sz="2400" i="1" dirty="0">
                <a:latin typeface="Times New Roman" panose="02020603050405020304" pitchFamily="18" charset="0"/>
                <a:cs typeface="Times New Roman" panose="02020603050405020304" pitchFamily="18" charset="0"/>
              </a:rPr>
              <a:t/>
            </a:r>
            <a:r>
              <a:rPr lang="en-IN" sz="2400" dirty="0">
                <a:latin typeface="Times New Roman" panose="02020603050405020304" pitchFamily="18" charset="0"/>
                <a:cs typeface="Times New Roman" panose="02020603050405020304" pitchFamily="18" charset="0"/>
              </a:rPr>
              <a:t/>
            </a:r>
          </a:p>
          <a:p>
            <a:pPr marL="0" indent="0" eaLnBrk="0" fontAlgn="base" hangingPunct="0">
              <a:lnSpc>
                <a:spcPct val="100000"/>
              </a:lnSpc>
              <a:spcBef>
                <a:spcPct val="0"/>
              </a:spcBef>
              <a:spcAft>
                <a:spcPct val="0"/>
              </a:spcAft>
              <a:buNone/>
            </a:pPr>
            <a:r>
              <a:rPr lang="en-IN" sz="2400" dirty="0">
                <a:latin typeface="Times New Roman" panose="02020603050405020304" pitchFamily="18" charset="0"/>
                <a:cs typeface="Times New Roman" panose="02020603050405020304" pitchFamily="18" charset="0"/>
              </a:rPr>
              <a:t>[13]  NVIDIA Corporation, CUDA C++ Programming Guide, Release 12.5, NVIDIA, 2024.</a:t>
            </a:r>
            <a:r>
              <a:rPr lang="en-IN" sz="2400" i="1" dirty="0">
                <a:latin typeface="Times New Roman" panose="02020603050405020304" pitchFamily="18" charset="0"/>
                <a:cs typeface="Times New Roman" panose="02020603050405020304" pitchFamily="18" charset="0"/>
              </a:rPr>
              <a:t/>
            </a:r>
            <a:r>
              <a:rPr lang="en-IN" sz="2400" dirty="0">
                <a:latin typeface="Times New Roman" panose="02020603050405020304" pitchFamily="18" charset="0"/>
                <a:cs typeface="Times New Roman" panose="02020603050405020304" pitchFamily="18" charset="0"/>
              </a:rPr>
              <a:t/>
            </a:r>
          </a:p>
          <a:p>
            <a:pPr marL="0" indent="0" eaLnBrk="0" fontAlgn="base" hangingPunct="0">
              <a:lnSpc>
                <a:spcPct val="100000"/>
              </a:lnSpc>
              <a:spcBef>
                <a:spcPct val="0"/>
              </a:spcBef>
              <a:spcAft>
                <a:spcPct val="0"/>
              </a:spcAft>
              <a:buNone/>
            </a:pPr>
            <a:r>
              <a:rPr lang="en-IN" sz="2400" dirty="0">
                <a:latin typeface="Times New Roman" panose="02020603050405020304" pitchFamily="18" charset="0"/>
                <a:cs typeface="Times New Roman" panose="02020603050405020304" pitchFamily="18" charset="0"/>
              </a:rPr>
              <a:t/>
            </a:r>
            <a:r>
              <a:rPr lang="en-IN" sz="2400" i="1" dirty="0">
                <a:latin typeface="Times New Roman" panose="02020603050405020304" pitchFamily="18" charset="0"/>
                <a:cs typeface="Times New Roman" panose="02020603050405020304" pitchFamily="18" charset="0"/>
              </a:rPr>
              <a:t/>
            </a:r>
            <a:r>
              <a:rPr lang="en-IN" sz="2400" dirty="0">
                <a:latin typeface="Times New Roman" panose="02020603050405020304" pitchFamily="18" charset="0"/>
                <a:cs typeface="Times New Roman" panose="02020603050405020304" pitchFamily="18" charset="0"/>
              </a:rPr>
              <a:t/>
            </a:r>
            <a:r>
              <a:rPr lang="en-IN" sz="2400" dirty="0"/>
              <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732D3DB-7149-E1E5-D5F9-4FC93A788894}"/>
              </a:ext>
            </a:extLst>
          </p:cNvPr>
          <p:cNvSpPr>
            <a:spLocks noGrp="1"/>
          </p:cNvSpPr>
          <p:nvPr>
            <p:ph type="dt" sz="half" idx="10"/>
          </p:nvPr>
        </p:nvSpPr>
        <p:spPr/>
        <p:txBody>
          <a:bodyPr/>
          <a:lstStyle/>
          <a:p>
            <a:fld id="{0A7C7B6C-E68D-4047-8A1E-3C7BD2842AF7}" type="datetime1">
              <a:rPr lang="en-IN" smtClean="0"/>
              <a:t>22-08-2026</a:t>
            </a:fld>
            <a:endParaRPr lang="en-IN"/>
          </a:p>
        </p:txBody>
      </p:sp>
      <p:sp>
        <p:nvSpPr>
          <p:cNvPr id="6" name="Footer Placeholder 5">
            <a:extLst>
              <a:ext uri="{FF2B5EF4-FFF2-40B4-BE49-F238E27FC236}">
                <a16:creationId xmlns:a16="http://schemas.microsoft.com/office/drawing/2014/main" id="{CEBCABB1-7C63-52E3-2815-3651AE7E9F7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431EAEC-BCE3-2979-69C6-273309B9FFA7}"/>
              </a:ext>
            </a:extLst>
          </p:cNvPr>
          <p:cNvSpPr>
            <a:spLocks noGrp="1"/>
          </p:cNvSpPr>
          <p:nvPr>
            <p:ph type="sldNum" sz="quarter" idx="12"/>
          </p:nvPr>
        </p:nvSpPr>
        <p:spPr/>
        <p:txBody>
          <a:bodyPr/>
          <a:lstStyle/>
          <a:p>
            <a:fld id="{65201FD4-9D8D-4491-815B-63C7BF4F0034}" type="slidenum">
              <a:rPr lang="en-IN" smtClean="0"/>
              <a:t>13</a:t>
            </a:fld>
            <a:endParaRPr lang="en-IN"/>
          </a:p>
        </p:txBody>
      </p:sp>
    </p:spTree>
    <p:extLst>
      <p:ext uri="{BB962C8B-B14F-4D97-AF65-F5344CB8AC3E}">
        <p14:creationId xmlns:p14="http://schemas.microsoft.com/office/powerpoint/2010/main" val="3510526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273</Words>
  <Application>Microsoft Office PowerPoint</Application>
  <PresentationFormat>Widescreen</PresentationFormat>
  <Paragraphs>78</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&lt;&lt;Programme B.Tech/ M.Tech Course Code – Course Title&gt;&gt; &lt;&lt;Project Title&gt;&gt;</vt:lpstr>
      <vt:lpstr>Approval Mail From Guide</vt:lpstr>
      <vt:lpstr>Aim</vt:lpstr>
      <vt:lpstr>Abstract</vt:lpstr>
      <vt:lpstr>Literature Review</vt:lpstr>
      <vt:lpstr>Research Gap</vt:lpstr>
      <vt:lpstr>Objectives</vt:lpstr>
      <vt:lpstr>Framework/Architecture/Block Diagram</vt:lpstr>
      <vt:lpstr>Functional Requirements</vt:lpstr>
      <vt:lpstr>Modules</vt:lpstr>
      <vt:lpstr>Experiments and Results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Parthasarathy G</dc:creator>
  <cp:lastModifiedBy>Parthasarathy G</cp:lastModifiedBy>
  <cp:revision>5</cp:revision>
  <dcterms:created xsi:type="dcterms:W3CDTF">2026-07-14T06:00:41Z</dcterms:created>
  <dcterms:modified xsi:type="dcterms:W3CDTF">2026-08-22T10:32:54Z</dcterms:modified>
</cp:coreProperties>
</file>